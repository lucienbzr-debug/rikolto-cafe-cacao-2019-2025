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CKK et COOKKANZ (historiques)</c:v>
                </c:pt>
              </c:strCache>
            </c:strRef>
          </c:tx>
          <c:spPr>
            <a:solidFill>
              <a:srgbClr val="9A5B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3864</c:v>
                </c:pt>
                <c:pt idx="1">
                  <c:v>4170</c:v>
                </c:pt>
                <c:pt idx="2">
                  <c:v>4065</c:v>
                </c:pt>
                <c:pt idx="3">
                  <c:v>4294</c:v>
                </c:pt>
                <c:pt idx="4">
                  <c:v>4525</c:v>
                </c:pt>
                <c:pt idx="5">
                  <c:v>5536</c:v>
                </c:pt>
                <c:pt idx="6">
                  <c:v>6506</c:v>
                </c:pt>
              </c:numCache>
            </c:numRef>
          </c:val>
        </c:ser>
        <c:ser>
          <c:idx val="1"/>
          <c:order val="1"/>
          <c:tx>
            <c:strRef>
              <c:f>Sheet1!$C$1</c:f>
              <c:strCache>
                <c:ptCount val="1"/>
                <c:pt idx="0">
                  <c:v>COOPADE (2024) et COOKURU (2025)</c:v>
                </c:pt>
              </c:strCache>
            </c:strRef>
          </c:tx>
          <c:spPr>
            <a:solidFill>
              <a:srgbClr val="E3B9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Sheet1!$C$2:$C$8</c:f>
              <c:numCache>
                <c:formatCode>General</c:formatCode>
                <c:ptCount val="7"/>
                <c:pt idx="0">
                  <c:v>0</c:v>
                </c:pt>
                <c:pt idx="1">
                  <c:v>0</c:v>
                </c:pt>
                <c:pt idx="2">
                  <c:v>0</c:v>
                </c:pt>
                <c:pt idx="3">
                  <c:v>1</c:v>
                </c:pt>
                <c:pt idx="4">
                  <c:v>4</c:v>
                </c:pt>
                <c:pt idx="5">
                  <c:v>3790</c:v>
                </c:pt>
                <c:pt idx="6">
                  <c:v>5678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4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1D6"/>
              </a:solidFill>
              <a:prstDash val="solid"/>
              <a:round/>
            </a:ln>
          </c:spPr>
        </c:majorGridlines>
        <c:numFmt formatCode="# ##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F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514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Jeunes 15-35 ans</c:v>
                </c:pt>
              </c:strCache>
            </c:strRef>
          </c:tx>
          <c:spPr>
            <a:solidFill>
              <a:srgbClr val="2E6B55"/>
            </a:solidFill>
            <a:ln w="38100" cap="flat">
              <a:solidFill>
                <a:srgbClr val="2E6B55"/>
              </a:solidFill>
              <a:prstDash val="solid"/>
              <a:round/>
            </a:ln>
            <a:effectLst/>
          </c:spPr>
          <c:invertIfNegative val="0"/>
          <c:dLbls>
            <c:numFmt formatCode="0.0%" sourceLinked="0"/>
            <c:txPr>
              <a:bodyPr/>
              <a:lstStyle/>
              <a:p>
                <a:pPr>
                  <a:defRPr b="0" i="0" strike="noStrike" sz="900" u="none">
                    <a:solidFill>
                      <a:srgbClr val="4A514C"/>
                    </a:solidFill>
                    <a:latin typeface="Arial"/>
                  </a:defRPr>
                </a:pPr>
              </a:p>
            </c:txPr>
            <c:dLblPos val="t"/>
            <c:showLegendKey val="0"/>
            <c:showVal val="1"/>
            <c:showCatName val="0"/>
            <c:showSerName val="0"/>
            <c:showPercent val="0"/>
            <c:showBubbleSize val="0"/>
            <c:showLeaderLines val="0"/>
          </c:dLbls>
          <c:marker>
            <c:symbol val="circle"/>
            <c:size val="7"/>
            <c:spPr>
              <a:solidFill>
                <a:srgbClr val="2E6B55"/>
              </a:solidFill>
              <a:ln w="9525" cap="flat">
                <a:solidFill>
                  <a:srgbClr val="2E6B55"/>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0.608</c:v>
                </c:pt>
                <c:pt idx="1">
                  <c:v>0.577</c:v>
                </c:pt>
                <c:pt idx="2">
                  <c:v>0.515</c:v>
                </c:pt>
                <c:pt idx="3">
                  <c:v>0.433</c:v>
                </c:pt>
                <c:pt idx="4">
                  <c:v>0.324</c:v>
                </c:pt>
                <c:pt idx="5">
                  <c:v>0.367</c:v>
                </c:pt>
                <c:pt idx="6">
                  <c:v>0.447</c:v>
                </c:pt>
              </c:numCache>
            </c:numRef>
          </c:val>
          <c:smooth val="0"/>
        </c:ser>
        <c:ser>
          <c:idx val="1"/>
          <c:order val="1"/>
          <c:tx>
            <c:strRef>
              <c:f>Sheet1!$C$1</c:f>
              <c:strCache>
                <c:ptCount val="1"/>
                <c:pt idx="0">
                  <c:v>Femmes</c:v>
                </c:pt>
              </c:strCache>
            </c:strRef>
          </c:tx>
          <c:spPr>
            <a:solidFill>
              <a:srgbClr val="C77A32"/>
            </a:solidFill>
            <a:ln w="38100" cap="flat">
              <a:solidFill>
                <a:srgbClr val="C77A32"/>
              </a:solidFill>
              <a:prstDash val="solid"/>
              <a:round/>
            </a:ln>
            <a:effectLst/>
          </c:spPr>
          <c:invertIfNegative val="0"/>
          <c:dLbls>
            <c:numFmt formatCode="0.0%" sourceLinked="0"/>
            <c:txPr>
              <a:bodyPr/>
              <a:lstStyle/>
              <a:p>
                <a:pPr>
                  <a:defRPr b="0" i="0" strike="noStrike" sz="900" u="none">
                    <a:solidFill>
                      <a:srgbClr val="4A514C"/>
                    </a:solidFill>
                    <a:latin typeface="Arial"/>
                  </a:defRPr>
                </a:pPr>
              </a:p>
            </c:txPr>
            <c:dLblPos val="t"/>
            <c:showLegendKey val="0"/>
            <c:showVal val="1"/>
            <c:showCatName val="0"/>
            <c:showSerName val="0"/>
            <c:showPercent val="0"/>
            <c:showBubbleSize val="0"/>
            <c:showLeaderLines val="0"/>
          </c:dLbls>
          <c:marker>
            <c:symbol val="circle"/>
            <c:size val="7"/>
            <c:spPr>
              <a:solidFill>
                <a:srgbClr val="C77A32"/>
              </a:solidFill>
              <a:ln w="9525" cap="flat">
                <a:solidFill>
                  <a:srgbClr val="C77A32"/>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Sheet1!$C$2:$C$8</c:f>
              <c:numCache>
                <c:formatCode>General</c:formatCode>
                <c:ptCount val="7"/>
                <c:pt idx="0">
                  <c:v>0.216</c:v>
                </c:pt>
                <c:pt idx="1">
                  <c:v>0.208</c:v>
                </c:pt>
                <c:pt idx="2">
                  <c:v>0.208</c:v>
                </c:pt>
                <c:pt idx="3">
                  <c:v>0.206</c:v>
                </c:pt>
                <c:pt idx="4">
                  <c:v>0.209</c:v>
                </c:pt>
                <c:pt idx="5">
                  <c:v>0.229</c:v>
                </c:pt>
                <c:pt idx="6">
                  <c:v>0.256</c:v>
                </c:pt>
              </c:numCache>
            </c:numRef>
          </c:val>
          <c:smooth val="0"/>
        </c:ser>
        <c:dLbls>
          <c:numFmt formatCode="0.0%" sourceLinked="0"/>
          <c:txPr>
            <a:bodyPr/>
            <a:lstStyle/>
            <a:p>
              <a:pPr>
                <a:defRPr b="0" i="0" strike="noStrike" sz="900" u="none">
                  <a:solidFill>
                    <a:srgbClr val="4A514C"/>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4C"/>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6E1D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F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514C"/>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Seuil de référence (ménage de 6)</c:v>
                </c:pt>
              </c:strCache>
            </c:strRef>
          </c:tx>
          <c:spPr>
            <a:solidFill>
              <a:srgbClr val="A9CBB9"/>
            </a:solidFill>
            <a:effectLst/>
          </c:spPr>
          <c:invertIfNegative val="0"/>
          <c:dLbls>
            <c:numFmt formatCode="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Sheet1!$A$2:$A$6</c:f>
              <c:multiLvlStrCache>
                <c:ptCount val="5"/>
                <c:lvl>
                  <c:pt idx="0">
                    <c:v>Mayuano</c:v>
                  </c:pt>
                  <c:pt idx="1">
                    <c:v>Mungamba</c:v>
                  </c:pt>
                  <c:pt idx="2">
                    <c:v>Mambasa</c:v>
                  </c:pt>
                  <c:pt idx="3">
                    <c:v>Babungwe</c:v>
                  </c:pt>
                  <c:pt idx="4">
                    <c:v>Ensemble</c:v>
                  </c:pt>
                </c:lvl>
              </c:multiLvlStrCache>
            </c:multiLvlStrRef>
          </c:cat>
          <c:val>
            <c:numRef>
              <c:f>Sheet1!$B$2:$B$6</c:f>
              <c:numCache>
                <c:formatCode>General</c:formatCode>
                <c:ptCount val="5"/>
                <c:pt idx="0">
                  <c:v>0.76</c:v>
                </c:pt>
                <c:pt idx="1">
                  <c:v>0.52</c:v>
                </c:pt>
                <c:pt idx="2">
                  <c:v>0.59</c:v>
                </c:pt>
                <c:pt idx="3">
                  <c:v>0.5</c:v>
                </c:pt>
                <c:pt idx="4">
                  <c:v>0.59</c:v>
                </c:pt>
              </c:numCache>
            </c:numRef>
          </c:val>
        </c:ser>
        <c:ser>
          <c:idx val="1"/>
          <c:order val="1"/>
          <c:tx>
            <c:strRef>
              <c:f>Sheet1!$C$1</c:f>
              <c:strCache>
                <c:ptCount val="1"/>
                <c:pt idx="0">
                  <c:v>Seuil ajusté à la taille réelle</c:v>
                </c:pt>
              </c:strCache>
            </c:strRef>
          </c:tx>
          <c:spPr>
            <a:solidFill>
              <a:srgbClr val="2E6B55"/>
            </a:solidFill>
            <a:effectLst/>
          </c:spPr>
          <c:invertIfNegative val="0"/>
          <c:dLbls>
            <c:numFmt formatCode="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Sheet1!$A$2:$A$6</c:f>
              <c:multiLvlStrCache>
                <c:ptCount val="5"/>
                <c:lvl>
                  <c:pt idx="0">
                    <c:v>Mayuano</c:v>
                  </c:pt>
                  <c:pt idx="1">
                    <c:v>Mungamba</c:v>
                  </c:pt>
                  <c:pt idx="2">
                    <c:v>Mambasa</c:v>
                  </c:pt>
                  <c:pt idx="3">
                    <c:v>Babungwe</c:v>
                  </c:pt>
                  <c:pt idx="4">
                    <c:v>Ensemble</c:v>
                  </c:pt>
                </c:lvl>
              </c:multiLvlStrCache>
            </c:multiLvlStrRef>
          </c:cat>
          <c:val>
            <c:numRef>
              <c:f>Sheet1!$C$2:$C$6</c:f>
              <c:numCache>
                <c:formatCode>General</c:formatCode>
                <c:ptCount val="5"/>
                <c:pt idx="0">
                  <c:v>0.71</c:v>
                </c:pt>
                <c:pt idx="1">
                  <c:v>0.35</c:v>
                </c:pt>
                <c:pt idx="2">
                  <c:v>0.27</c:v>
                </c:pt>
                <c:pt idx="3">
                  <c:v>0.27</c:v>
                </c:pt>
                <c:pt idx="4">
                  <c:v>0.4</c:v>
                </c:pt>
              </c:numCache>
            </c:numRef>
          </c:val>
        </c:ser>
        <c:dLbls>
          <c:numFmt formatCode="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14C"/>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6E1D6"/>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F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514C"/>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réunion : partager les constats de l'analyse des trois bases (café, enquête revenu vital cacao, planteurs Okapi) et obtenir cinq décisions. Durée conseillée : 30 minutes, dont 10 de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à retenir : la couverture et l'inclusion sont démontrées, l'impact sur le revenu café ne l'est pas. Côté cacao, le revenu médian dépasse le seuil de référence, mais la taille des ménages (10,3 personnes) change la conclusion : 40 % seulement atteignent le seuil ajusté.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décisions dès le début, puis montrer les preuves. On reviendra à cette liste en fin de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variable living_income du questionnaire vaut revenu moins dépenses : elle n'a pas été utilisée comme revenu. Le seuil ajusté est prudent, car il ignore les économies d'échelle des grands ménages.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Toujours distinguer le périmètre historique des nouvelles OP : sinon, la croissance apparente de +215 % masque une croissance réelle de +68 %.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Recommandation : fixer les cibles d'inclusion par coopérative plutôt qu'une cible globale.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dashboard garde ces indicateurs, marqués « estimés », pour la continuité du reporting. Les coopératives ont déjà les bordereaux d'achat : il s'agit de les saisir par producteur.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 net médian : 3 300 USD par an, 26 % au-dessus du seuil de référence. Mais les ménages comptent 10,3 personnes en moyenne. Babungwe et Mambasa sont les sections prioritaires. Le prix bas de Mayuano (2,06 USD/kg) peut indiquer une vente de fèves fraîches : à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Limites : 6 ménages présentent des valeurs extrêmes (jusqu'à 44 ha et 59 705 USD). 18 % des ménages déclarent des dépenses supérieures à leur revenu.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valeurs actuelles servent de référence pour fixer les cibles avec le bailleur. Le détail (niveau de la chaîne de résultats, source) est dans le rapport 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phase s'ouvre par une décision : la signature du PV conditionne la phase 2, et le test des outils de collecte conditionne la campagne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dashboard en direct si possible : les filtres par campagne et par coopérative répondent aux questions de la salle.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Revenir à la slide 3 pour acter les cinq décisions une par 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26"/>
        </a:solidFill>
      </p:bgPr>
    </p:bg>
    <p:spTree>
      <p:nvGrpSpPr>
        <p:cNvPr id="1" name=""/>
        <p:cNvGrpSpPr/>
        <p:nvPr/>
      </p:nvGrpSpPr>
      <p:grpSpPr>
        <a:xfrm>
          <a:off x="0" y="0"/>
          <a:ext cx="0" cy="0"/>
          <a:chOff x="0" y="0"/>
          <a:chExt cx="0" cy="0"/>
        </a:xfrm>
      </p:grpSpPr>
      <p:sp>
        <p:nvSpPr>
          <p:cNvPr id="2" name="Shape 0"/>
          <p:cNvSpPr/>
          <p:nvPr/>
        </p:nvSpPr>
        <p:spPr>
          <a:xfrm>
            <a:off x="813816" y="896112"/>
            <a:ext cx="301752" cy="50292"/>
          </a:xfrm>
          <a:prstGeom prst="rect">
            <a:avLst/>
          </a:prstGeom>
          <a:solidFill>
            <a:srgbClr val="C98A4B"/>
          </a:solidFill>
          <a:ln/>
        </p:spPr>
      </p:sp>
      <p:sp>
        <p:nvSpPr>
          <p:cNvPr id="3" name="Shape 1"/>
          <p:cNvSpPr/>
          <p:nvPr/>
        </p:nvSpPr>
        <p:spPr>
          <a:xfrm>
            <a:off x="1216152" y="896112"/>
            <a:ext cx="301752" cy="50292"/>
          </a:xfrm>
          <a:prstGeom prst="rect">
            <a:avLst/>
          </a:prstGeom>
          <a:solidFill>
            <a:srgbClr val="6FA88E"/>
          </a:solidFill>
          <a:ln/>
        </p:spPr>
      </p:sp>
      <p:sp>
        <p:nvSpPr>
          <p:cNvPr id="4" name="Text 2"/>
          <p:cNvSpPr txBox="1"/>
          <p:nvPr/>
        </p:nvSpPr>
        <p:spPr>
          <a:xfrm>
            <a:off x="1636776" y="777240"/>
            <a:ext cx="8229600" cy="274320"/>
          </a:xfrm>
          <a:prstGeom prst="rect">
            <a:avLst/>
          </a:prstGeom>
          <a:noFill/>
          <a:ln/>
        </p:spPr>
        <p:txBody>
          <a:bodyPr wrap="square" lIns="0" tIns="0" rIns="0" bIns="0" rtlCol="0" anchor="ctr"/>
          <a:lstStyle/>
          <a:p>
            <a:pPr indent="0" marL="0">
              <a:buNone/>
            </a:pPr>
            <a:r>
              <a:rPr lang="en-US" sz="1400" b="1" spc="300" kern="0" dirty="0">
                <a:solidFill>
                  <a:srgbClr val="C9D6CF"/>
                </a:solidFill>
                <a:latin typeface="Arial" pitchFamily="34" charset="0"/>
                <a:ea typeface="Arial" pitchFamily="34" charset="-122"/>
                <a:cs typeface="Arial" pitchFamily="34" charset="-120"/>
              </a:rPr>
              <a:t>RIKOLTO RDC · COMITÉ DE DIRECTION</a:t>
            </a:r>
            <a:endParaRPr lang="en-US" sz="1400" dirty="0"/>
          </a:p>
        </p:txBody>
      </p:sp>
      <p:sp>
        <p:nvSpPr>
          <p:cNvPr id="5" name="Text 3"/>
          <p:cNvSpPr txBox="1"/>
          <p:nvPr/>
        </p:nvSpPr>
        <p:spPr>
          <a:xfrm>
            <a:off x="813816" y="2103120"/>
            <a:ext cx="9144000" cy="1828800"/>
          </a:xfrm>
          <a:prstGeom prst="rect">
            <a:avLst/>
          </a:prstGeom>
          <a:noFill/>
          <a:ln/>
        </p:spPr>
        <p:txBody>
          <a:bodyPr wrap="square" lIns="0" tIns="0" rIns="0" bIns="0" rtlCol="0" anchor="t"/>
          <a:lstStyle/>
          <a:p>
            <a:pPr indent="0" marL="0">
              <a:buNone/>
            </a:pPr>
            <a:r>
              <a:rPr lang="en-US" sz="6000" b="1" dirty="0">
                <a:solidFill>
                  <a:srgbClr val="F6F3EC"/>
                </a:solidFill>
                <a:latin typeface="Cambria" pitchFamily="34" charset="0"/>
                <a:ea typeface="Cambria" pitchFamily="34" charset="-122"/>
                <a:cs typeface="Cambria" pitchFamily="34" charset="-120"/>
              </a:rPr>
              <a:t>Café &amp; Cacao</a:t>
            </a:r>
            <a:endParaRPr lang="en-US" sz="6000" dirty="0"/>
          </a:p>
          <a:p>
            <a:pPr indent="0" marL="0">
              <a:buNone/>
            </a:pPr>
            <a:r>
              <a:rPr lang="en-US" sz="6000" b="1" dirty="0">
                <a:solidFill>
                  <a:srgbClr val="F6F3EC"/>
                </a:solidFill>
                <a:latin typeface="Cambria" pitchFamily="34" charset="0"/>
                <a:ea typeface="Cambria" pitchFamily="34" charset="-122"/>
                <a:cs typeface="Cambria" pitchFamily="34" charset="-120"/>
              </a:rPr>
              <a:t>2019-2025</a:t>
            </a:r>
            <a:endParaRPr lang="en-US" sz="6000" dirty="0"/>
          </a:p>
        </p:txBody>
      </p:sp>
      <p:sp>
        <p:nvSpPr>
          <p:cNvPr id="6" name="Text 4"/>
          <p:cNvSpPr txBox="1"/>
          <p:nvPr/>
        </p:nvSpPr>
        <p:spPr>
          <a:xfrm>
            <a:off x="813816" y="4069080"/>
            <a:ext cx="8412480" cy="822960"/>
          </a:xfrm>
          <a:prstGeom prst="rect">
            <a:avLst/>
          </a:prstGeom>
          <a:noFill/>
          <a:ln/>
        </p:spPr>
        <p:txBody>
          <a:bodyPr wrap="square" lIns="0" tIns="0" rIns="0" bIns="0" rtlCol="0" anchor="t"/>
          <a:lstStyle/>
          <a:p>
            <a:pPr indent="0" marL="0">
              <a:buNone/>
            </a:pPr>
            <a:r>
              <a:rPr lang="en-US" sz="2200" dirty="0">
                <a:solidFill>
                  <a:srgbClr val="C9D6CF"/>
                </a:solidFill>
                <a:latin typeface="Arial" pitchFamily="34" charset="0"/>
                <a:ea typeface="Arial" pitchFamily="34" charset="-122"/>
                <a:cs typeface="Arial" pitchFamily="34" charset="-120"/>
              </a:rPr>
              <a:t>Ce que la base démontre, ce qu'elle ne démontre pas encore, et les décisions à prendre</a:t>
            </a:r>
            <a:endParaRPr lang="en-US" sz="2200" dirty="0"/>
          </a:p>
        </p:txBody>
      </p:sp>
      <p:sp>
        <p:nvSpPr>
          <p:cNvPr id="7" name="Text 5"/>
          <p:cNvSpPr txBox="1"/>
          <p:nvPr/>
        </p:nvSpPr>
        <p:spPr>
          <a:xfrm>
            <a:off x="813816" y="5897880"/>
            <a:ext cx="8229600" cy="320040"/>
          </a:xfrm>
          <a:prstGeom prst="rect">
            <a:avLst/>
          </a:prstGeom>
          <a:noFill/>
          <a:ln/>
        </p:spPr>
        <p:txBody>
          <a:bodyPr wrap="square" lIns="0" tIns="0" rIns="0" bIns="0" rtlCol="0" anchor="ctr"/>
          <a:lstStyle/>
          <a:p>
            <a:pPr indent="0" marL="0">
              <a:buNone/>
            </a:pPr>
            <a:r>
              <a:rPr lang="en-US" sz="1400" dirty="0">
                <a:solidFill>
                  <a:srgbClr val="C9D6CF"/>
                </a:solidFill>
                <a:latin typeface="Arial" pitchFamily="34" charset="0"/>
                <a:ea typeface="Arial" pitchFamily="34" charset="-122"/>
                <a:cs typeface="Arial" pitchFamily="34" charset="-120"/>
              </a:rPr>
              <a:t>30 septembre 2026 · Préparé par Lucien Buzera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SYNTHÈSE</a:t>
            </a:r>
            <a:endParaRPr lang="en-US" sz="1200" dirty="0"/>
          </a:p>
        </p:txBody>
      </p:sp>
      <p:sp>
        <p:nvSpPr>
          <p:cNvPr id="3" name="Text 1"/>
          <p:cNvSpPr txBox="1"/>
          <p:nvPr/>
        </p:nvSpPr>
        <p:spPr>
          <a:xfrm>
            <a:off x="813816" y="960120"/>
            <a:ext cx="9875520" cy="118872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Le programme touche 3 fois plus de producteurs, mais la base ne prouve pas encore un gain de revenu</a:t>
            </a:r>
            <a:endParaRPr lang="en-US" sz="3200" dirty="0"/>
          </a:p>
        </p:txBody>
      </p:sp>
      <p:sp>
        <p:nvSpPr>
          <p:cNvPr id="4" name="Shape 2"/>
          <p:cNvSpPr/>
          <p:nvPr/>
        </p:nvSpPr>
        <p:spPr>
          <a:xfrm>
            <a:off x="813816" y="2514600"/>
            <a:ext cx="2490140" cy="3017520"/>
          </a:xfrm>
          <a:prstGeom prst="roundRect">
            <a:avLst>
              <a:gd name="adj" fmla="val 2938"/>
            </a:avLst>
          </a:prstGeom>
          <a:solidFill>
            <a:srgbClr val="FFFDF8"/>
          </a:solidFill>
          <a:ln w="9525">
            <a:solidFill>
              <a:srgbClr val="E2DDD0"/>
            </a:solidFill>
            <a:prstDash val="solid"/>
          </a:ln>
        </p:spPr>
      </p:sp>
      <p:sp>
        <p:nvSpPr>
          <p:cNvPr id="5" name="Shape 3"/>
          <p:cNvSpPr/>
          <p:nvPr/>
        </p:nvSpPr>
        <p:spPr>
          <a:xfrm>
            <a:off x="832104" y="2514600"/>
            <a:ext cx="2453564" cy="54864"/>
          </a:xfrm>
          <a:prstGeom prst="rect">
            <a:avLst/>
          </a:prstGeom>
          <a:solidFill>
            <a:srgbClr val="9A5B2E"/>
          </a:solidFill>
          <a:ln/>
        </p:spPr>
      </p:sp>
      <p:sp>
        <p:nvSpPr>
          <p:cNvPr id="6" name="Text 4"/>
          <p:cNvSpPr txBox="1"/>
          <p:nvPr/>
        </p:nvSpPr>
        <p:spPr>
          <a:xfrm>
            <a:off x="1069848" y="2788920"/>
            <a:ext cx="2032940" cy="822960"/>
          </a:xfrm>
          <a:prstGeom prst="rect">
            <a:avLst/>
          </a:prstGeom>
          <a:noFill/>
          <a:ln/>
        </p:spPr>
        <p:txBody>
          <a:bodyPr wrap="square" lIns="0" tIns="0" rIns="0" bIns="0" rtlCol="0" anchor="ctr"/>
          <a:lstStyle/>
          <a:p>
            <a:pPr indent="0" marL="0">
              <a:buNone/>
            </a:pPr>
            <a:r>
              <a:rPr lang="en-US" sz="4000" b="1" dirty="0">
                <a:solidFill>
                  <a:srgbClr val="9A5B2E"/>
                </a:solidFill>
                <a:latin typeface="Cambria" pitchFamily="34" charset="0"/>
                <a:ea typeface="Cambria" pitchFamily="34" charset="-122"/>
                <a:cs typeface="Cambria" pitchFamily="34" charset="-120"/>
              </a:rPr>
              <a:t>×3,2</a:t>
            </a:r>
            <a:endParaRPr lang="en-US" sz="4000" dirty="0"/>
          </a:p>
        </p:txBody>
      </p:sp>
      <p:sp>
        <p:nvSpPr>
          <p:cNvPr id="7" name="Text 5"/>
          <p:cNvSpPr txBox="1"/>
          <p:nvPr/>
        </p:nvSpPr>
        <p:spPr>
          <a:xfrm>
            <a:off x="1069848" y="3703320"/>
            <a:ext cx="2032940" cy="1645920"/>
          </a:xfrm>
          <a:prstGeom prst="rect">
            <a:avLst/>
          </a:prstGeom>
          <a:noFill/>
          <a:ln/>
        </p:spPr>
        <p:txBody>
          <a:bodyPr wrap="square" lIns="0" tIns="0" rIns="0" bIns="0" rtlCol="0" anchor="t"/>
          <a:lstStyle/>
          <a:p>
            <a:pPr indent="0" marL="0">
              <a:buNone/>
            </a:pPr>
            <a:r>
              <a:rPr lang="en-US" sz="1600" dirty="0">
                <a:solidFill>
                  <a:srgbClr val="4A514C"/>
                </a:solidFill>
                <a:latin typeface="Arial" pitchFamily="34" charset="0"/>
                <a:ea typeface="Arial" pitchFamily="34" charset="-122"/>
                <a:cs typeface="Arial" pitchFamily="34" charset="-120"/>
              </a:rPr>
              <a:t>producteurs café : 12 184 en 2025 contre 3 864 en 2019</a:t>
            </a:r>
            <a:endParaRPr lang="en-US" sz="1600" dirty="0"/>
          </a:p>
        </p:txBody>
      </p:sp>
      <p:sp>
        <p:nvSpPr>
          <p:cNvPr id="8" name="Shape 6"/>
          <p:cNvSpPr/>
          <p:nvPr/>
        </p:nvSpPr>
        <p:spPr>
          <a:xfrm>
            <a:off x="3505124" y="2514600"/>
            <a:ext cx="2490140" cy="3017520"/>
          </a:xfrm>
          <a:prstGeom prst="roundRect">
            <a:avLst>
              <a:gd name="adj" fmla="val 2938"/>
            </a:avLst>
          </a:prstGeom>
          <a:solidFill>
            <a:srgbClr val="FFFDF8"/>
          </a:solidFill>
          <a:ln w="9525">
            <a:solidFill>
              <a:srgbClr val="E2DDD0"/>
            </a:solidFill>
            <a:prstDash val="solid"/>
          </a:ln>
        </p:spPr>
      </p:sp>
      <p:sp>
        <p:nvSpPr>
          <p:cNvPr id="9" name="Shape 7"/>
          <p:cNvSpPr/>
          <p:nvPr/>
        </p:nvSpPr>
        <p:spPr>
          <a:xfrm>
            <a:off x="3523412" y="2514600"/>
            <a:ext cx="2453564" cy="54864"/>
          </a:xfrm>
          <a:prstGeom prst="rect">
            <a:avLst/>
          </a:prstGeom>
          <a:solidFill>
            <a:srgbClr val="9A5B2E"/>
          </a:solidFill>
          <a:ln/>
        </p:spPr>
      </p:sp>
      <p:sp>
        <p:nvSpPr>
          <p:cNvPr id="10" name="Text 8"/>
          <p:cNvSpPr txBox="1"/>
          <p:nvPr/>
        </p:nvSpPr>
        <p:spPr>
          <a:xfrm>
            <a:off x="3761156" y="2788920"/>
            <a:ext cx="2032940" cy="822960"/>
          </a:xfrm>
          <a:prstGeom prst="rect">
            <a:avLst/>
          </a:prstGeom>
          <a:noFill/>
          <a:ln/>
        </p:spPr>
        <p:txBody>
          <a:bodyPr wrap="square" lIns="0" tIns="0" rIns="0" bIns="0" rtlCol="0" anchor="ctr"/>
          <a:lstStyle/>
          <a:p>
            <a:pPr indent="0" marL="0">
              <a:buNone/>
            </a:pPr>
            <a:r>
              <a:rPr lang="en-US" sz="4000" b="1" dirty="0">
                <a:solidFill>
                  <a:srgbClr val="9A5B2E"/>
                </a:solidFill>
                <a:latin typeface="Cambria" pitchFamily="34" charset="0"/>
                <a:ea typeface="Cambria" pitchFamily="34" charset="-122"/>
                <a:cs typeface="Cambria" pitchFamily="34" charset="-120"/>
              </a:rPr>
              <a:t>25,6 %</a:t>
            </a:r>
            <a:endParaRPr lang="en-US" sz="4000" dirty="0"/>
          </a:p>
        </p:txBody>
      </p:sp>
      <p:sp>
        <p:nvSpPr>
          <p:cNvPr id="11" name="Text 9"/>
          <p:cNvSpPr txBox="1"/>
          <p:nvPr/>
        </p:nvSpPr>
        <p:spPr>
          <a:xfrm>
            <a:off x="3761156" y="3703320"/>
            <a:ext cx="2032940" cy="1645920"/>
          </a:xfrm>
          <a:prstGeom prst="rect">
            <a:avLst/>
          </a:prstGeom>
          <a:noFill/>
          <a:ln/>
        </p:spPr>
        <p:txBody>
          <a:bodyPr wrap="square" lIns="0" tIns="0" rIns="0" bIns="0" rtlCol="0" anchor="t"/>
          <a:lstStyle/>
          <a:p>
            <a:pPr indent="0" marL="0">
              <a:buNone/>
            </a:pPr>
            <a:r>
              <a:rPr lang="en-US" sz="1600" dirty="0">
                <a:solidFill>
                  <a:srgbClr val="4A514C"/>
                </a:solidFill>
                <a:latin typeface="Arial" pitchFamily="34" charset="0"/>
                <a:ea typeface="Arial" pitchFamily="34" charset="-122"/>
                <a:cs typeface="Arial" pitchFamily="34" charset="-120"/>
              </a:rPr>
              <a:t>de femmes en 2025, contre 21,6 % en 2019</a:t>
            </a:r>
            <a:endParaRPr lang="en-US" sz="1600" dirty="0"/>
          </a:p>
        </p:txBody>
      </p:sp>
      <p:sp>
        <p:nvSpPr>
          <p:cNvPr id="12" name="Shape 10"/>
          <p:cNvSpPr/>
          <p:nvPr/>
        </p:nvSpPr>
        <p:spPr>
          <a:xfrm>
            <a:off x="6196432" y="2514600"/>
            <a:ext cx="2490140" cy="3017520"/>
          </a:xfrm>
          <a:prstGeom prst="roundRect">
            <a:avLst>
              <a:gd name="adj" fmla="val 2938"/>
            </a:avLst>
          </a:prstGeom>
          <a:solidFill>
            <a:srgbClr val="FFFDF8"/>
          </a:solidFill>
          <a:ln w="9525">
            <a:solidFill>
              <a:srgbClr val="E2DDD0"/>
            </a:solidFill>
            <a:prstDash val="solid"/>
          </a:ln>
        </p:spPr>
      </p:sp>
      <p:sp>
        <p:nvSpPr>
          <p:cNvPr id="13" name="Shape 11"/>
          <p:cNvSpPr/>
          <p:nvPr/>
        </p:nvSpPr>
        <p:spPr>
          <a:xfrm>
            <a:off x="6214720" y="2514600"/>
            <a:ext cx="2453564" cy="54864"/>
          </a:xfrm>
          <a:prstGeom prst="rect">
            <a:avLst/>
          </a:prstGeom>
          <a:solidFill>
            <a:srgbClr val="2E6B55"/>
          </a:solidFill>
          <a:ln/>
        </p:spPr>
      </p:sp>
      <p:sp>
        <p:nvSpPr>
          <p:cNvPr id="14" name="Text 12"/>
          <p:cNvSpPr txBox="1"/>
          <p:nvPr/>
        </p:nvSpPr>
        <p:spPr>
          <a:xfrm>
            <a:off x="6452464" y="2788920"/>
            <a:ext cx="2032940" cy="822960"/>
          </a:xfrm>
          <a:prstGeom prst="rect">
            <a:avLst/>
          </a:prstGeom>
          <a:noFill/>
          <a:ln/>
        </p:spPr>
        <p:txBody>
          <a:bodyPr wrap="square" lIns="0" tIns="0" rIns="0" bIns="0" rtlCol="0" anchor="ctr"/>
          <a:lstStyle/>
          <a:p>
            <a:pPr indent="0" marL="0">
              <a:buNone/>
            </a:pPr>
            <a:r>
              <a:rPr lang="en-US" sz="4000" b="1" dirty="0">
                <a:solidFill>
                  <a:srgbClr val="2E6B55"/>
                </a:solidFill>
                <a:latin typeface="Cambria" pitchFamily="34" charset="0"/>
                <a:ea typeface="Cambria" pitchFamily="34" charset="-122"/>
                <a:cs typeface="Cambria" pitchFamily="34" charset="-120"/>
              </a:rPr>
              <a:t>40 %</a:t>
            </a:r>
            <a:endParaRPr lang="en-US" sz="4000" dirty="0"/>
          </a:p>
        </p:txBody>
      </p:sp>
      <p:sp>
        <p:nvSpPr>
          <p:cNvPr id="15" name="Text 13"/>
          <p:cNvSpPr txBox="1"/>
          <p:nvPr/>
        </p:nvSpPr>
        <p:spPr>
          <a:xfrm>
            <a:off x="6452464" y="3703320"/>
            <a:ext cx="2032940" cy="1645920"/>
          </a:xfrm>
          <a:prstGeom prst="rect">
            <a:avLst/>
          </a:prstGeom>
          <a:noFill/>
          <a:ln/>
        </p:spPr>
        <p:txBody>
          <a:bodyPr wrap="square" lIns="0" tIns="0" rIns="0" bIns="0" rtlCol="0" anchor="t"/>
          <a:lstStyle/>
          <a:p>
            <a:pPr indent="0" marL="0">
              <a:buNone/>
            </a:pPr>
            <a:r>
              <a:rPr lang="en-US" sz="1600" dirty="0">
                <a:solidFill>
                  <a:srgbClr val="4A514C"/>
                </a:solidFill>
                <a:latin typeface="Arial" pitchFamily="34" charset="0"/>
                <a:ea typeface="Arial" pitchFamily="34" charset="-122"/>
                <a:cs typeface="Arial" pitchFamily="34" charset="-120"/>
              </a:rPr>
              <a:t>des ménages cacao atteignent le revenu vital ajusté à leur taille</a:t>
            </a:r>
            <a:endParaRPr lang="en-US" sz="1600" dirty="0"/>
          </a:p>
        </p:txBody>
      </p:sp>
      <p:sp>
        <p:nvSpPr>
          <p:cNvPr id="16" name="Shape 14"/>
          <p:cNvSpPr/>
          <p:nvPr/>
        </p:nvSpPr>
        <p:spPr>
          <a:xfrm>
            <a:off x="8887739" y="2514600"/>
            <a:ext cx="2490140" cy="3017520"/>
          </a:xfrm>
          <a:prstGeom prst="roundRect">
            <a:avLst>
              <a:gd name="adj" fmla="val 2938"/>
            </a:avLst>
          </a:prstGeom>
          <a:solidFill>
            <a:srgbClr val="FFFDF8"/>
          </a:solidFill>
          <a:ln w="9525">
            <a:solidFill>
              <a:srgbClr val="E2DDD0"/>
            </a:solidFill>
            <a:prstDash val="solid"/>
          </a:ln>
        </p:spPr>
      </p:sp>
      <p:sp>
        <p:nvSpPr>
          <p:cNvPr id="17" name="Shape 15"/>
          <p:cNvSpPr/>
          <p:nvPr/>
        </p:nvSpPr>
        <p:spPr>
          <a:xfrm>
            <a:off x="8906027" y="2514600"/>
            <a:ext cx="2453564" cy="54864"/>
          </a:xfrm>
          <a:prstGeom prst="rect">
            <a:avLst/>
          </a:prstGeom>
          <a:solidFill>
            <a:srgbClr val="A83A32"/>
          </a:solidFill>
          <a:ln/>
        </p:spPr>
      </p:sp>
      <p:sp>
        <p:nvSpPr>
          <p:cNvPr id="18" name="Text 16"/>
          <p:cNvSpPr txBox="1"/>
          <p:nvPr/>
        </p:nvSpPr>
        <p:spPr>
          <a:xfrm>
            <a:off x="9143771" y="2788920"/>
            <a:ext cx="2032940" cy="822960"/>
          </a:xfrm>
          <a:prstGeom prst="rect">
            <a:avLst/>
          </a:prstGeom>
          <a:noFill/>
          <a:ln/>
        </p:spPr>
        <p:txBody>
          <a:bodyPr wrap="square" lIns="0" tIns="0" rIns="0" bIns="0" rtlCol="0" anchor="ctr"/>
          <a:lstStyle/>
          <a:p>
            <a:pPr indent="0" marL="0">
              <a:buNone/>
            </a:pPr>
            <a:r>
              <a:rPr lang="en-US" sz="4000" b="1" dirty="0">
                <a:solidFill>
                  <a:srgbClr val="A83A32"/>
                </a:solidFill>
                <a:latin typeface="Cambria" pitchFamily="34" charset="0"/>
                <a:ea typeface="Cambria" pitchFamily="34" charset="-122"/>
                <a:cs typeface="Cambria" pitchFamily="34" charset="-120"/>
              </a:rPr>
              <a:t>100 %</a:t>
            </a:r>
            <a:endParaRPr lang="en-US" sz="4000" dirty="0"/>
          </a:p>
        </p:txBody>
      </p:sp>
      <p:sp>
        <p:nvSpPr>
          <p:cNvPr id="19" name="Text 17"/>
          <p:cNvSpPr txBox="1"/>
          <p:nvPr/>
        </p:nvSpPr>
        <p:spPr>
          <a:xfrm>
            <a:off x="9143771" y="3703320"/>
            <a:ext cx="2032940" cy="1645920"/>
          </a:xfrm>
          <a:prstGeom prst="rect">
            <a:avLst/>
          </a:prstGeom>
          <a:noFill/>
          <a:ln/>
        </p:spPr>
        <p:txBody>
          <a:bodyPr wrap="square" lIns="0" tIns="0" rIns="0" bIns="0" rtlCol="0" anchor="t"/>
          <a:lstStyle/>
          <a:p>
            <a:pPr indent="0" marL="0">
              <a:buNone/>
            </a:pPr>
            <a:r>
              <a:rPr lang="en-US" sz="1600" dirty="0">
                <a:solidFill>
                  <a:srgbClr val="4A514C"/>
                </a:solidFill>
                <a:latin typeface="Arial" pitchFamily="34" charset="0"/>
                <a:ea typeface="Arial" pitchFamily="34" charset="-122"/>
                <a:cs typeface="Arial" pitchFamily="34" charset="-120"/>
              </a:rPr>
              <a:t>des chiffres économiques café sont calculés par formule, pas mesurés</a:t>
            </a:r>
            <a:endParaRPr lang="en-US" sz="1600" dirty="0"/>
          </a:p>
        </p:txBody>
      </p:sp>
      <p:sp>
        <p:nvSpPr>
          <p:cNvPr id="20" name="Text 18"/>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Sources : base consolidée Rikolto café 2019-2025 ; enquête Living Income Cacao Okapi, mars 2024 ; Anker 2025</a:t>
            </a:r>
            <a:endParaRPr lang="en-US" sz="1100" dirty="0"/>
          </a:p>
        </p:txBody>
      </p:sp>
      <p:sp>
        <p:nvSpPr>
          <p:cNvPr id="21" name="Text 19"/>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DÉCISIONS ATTENDUES</a:t>
            </a:r>
            <a:endParaRPr lang="en-US" sz="1200" dirty="0"/>
          </a:p>
        </p:txBody>
      </p:sp>
      <p:sp>
        <p:nvSpPr>
          <p:cNvPr id="3" name="Text 1"/>
          <p:cNvSpPr txBox="1"/>
          <p:nvPr/>
        </p:nvSpPr>
        <p:spPr>
          <a:xfrm>
            <a:off x="813816" y="960120"/>
            <a:ext cx="10564063" cy="82296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Cinq décisions pour passer du comptage à la mesure</a:t>
            </a:r>
            <a:endParaRPr lang="en-US" sz="3200" dirty="0"/>
          </a:p>
        </p:txBody>
      </p:sp>
      <p:sp>
        <p:nvSpPr>
          <p:cNvPr id="4" name="Shape 2"/>
          <p:cNvSpPr/>
          <p:nvPr/>
        </p:nvSpPr>
        <p:spPr>
          <a:xfrm>
            <a:off x="813816" y="1874520"/>
            <a:ext cx="10564063" cy="658368"/>
          </a:xfrm>
          <a:prstGeom prst="roundRect">
            <a:avLst>
              <a:gd name="adj" fmla="val 11111"/>
            </a:avLst>
          </a:prstGeom>
          <a:solidFill>
            <a:srgbClr val="FFFDF8"/>
          </a:solidFill>
          <a:ln w="9525">
            <a:solidFill>
              <a:srgbClr val="E2DDD0"/>
            </a:solidFill>
            <a:prstDash val="solid"/>
          </a:ln>
        </p:spPr>
      </p:sp>
      <p:sp>
        <p:nvSpPr>
          <p:cNvPr id="5" name="Text 3"/>
          <p:cNvSpPr txBox="1"/>
          <p:nvPr/>
        </p:nvSpPr>
        <p:spPr>
          <a:xfrm>
            <a:off x="1042416" y="1874520"/>
            <a:ext cx="457200" cy="658368"/>
          </a:xfrm>
          <a:prstGeom prst="rect">
            <a:avLst/>
          </a:prstGeom>
          <a:noFill/>
          <a:ln/>
        </p:spPr>
        <p:txBody>
          <a:bodyPr wrap="square" lIns="0" tIns="0" rIns="0" bIns="0" rtlCol="0" anchor="ctr"/>
          <a:lstStyle/>
          <a:p>
            <a:pPr indent="0" marL="0">
              <a:buNone/>
            </a:pPr>
            <a:r>
              <a:rPr lang="en-US" sz="2400" b="1" dirty="0">
                <a:solidFill>
                  <a:srgbClr val="9A5B2E"/>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591056" y="1874520"/>
            <a:ext cx="9558223" cy="658368"/>
          </a:xfrm>
          <a:prstGeom prst="rect">
            <a:avLst/>
          </a:prstGeom>
          <a:noFill/>
          <a:ln/>
        </p:spPr>
        <p:txBody>
          <a:bodyPr wrap="square" lIns="0" tIns="0" rIns="0" bIns="0" rtlCol="0" anchor="ctr"/>
          <a:lstStyle/>
          <a:p>
            <a:pPr indent="0" marL="0">
              <a:buNone/>
            </a:pPr>
            <a:r>
              <a:rPr lang="en-US" sz="1600" b="1" dirty="0">
                <a:solidFill>
                  <a:srgbClr val="1E2A26"/>
                </a:solidFill>
                <a:latin typeface="Arial" pitchFamily="34" charset="0"/>
                <a:ea typeface="Arial" pitchFamily="34" charset="-122"/>
                <a:cs typeface="Arial" pitchFamily="34" charset="-120"/>
              </a:rPr>
              <a:t>Valider la base café</a:t>
            </a:r>
            <a:pPr indent="0" marL="0">
              <a:buNone/>
            </a:pPr>
            <a:r>
              <a:rPr lang="en-US" sz="1600" dirty="0">
                <a:solidFill>
                  <a:srgbClr val="1E2A26"/>
                </a:solidFill>
                <a:latin typeface="Arial" pitchFamily="34" charset="0"/>
                <a:ea typeface="Arial" pitchFamily="34" charset="-122"/>
                <a:cs typeface="Arial" pitchFamily="34" charset="-120"/>
              </a:rPr>
              <a:t> comme référentiel des bénéficiaires, pas comme source d'indicateurs de revenu</a:t>
            </a:r>
            <a:endParaRPr lang="en-US" sz="1600" dirty="0"/>
          </a:p>
        </p:txBody>
      </p:sp>
      <p:sp>
        <p:nvSpPr>
          <p:cNvPr id="7" name="Shape 5"/>
          <p:cNvSpPr/>
          <p:nvPr/>
        </p:nvSpPr>
        <p:spPr>
          <a:xfrm>
            <a:off x="813816" y="2660904"/>
            <a:ext cx="10564063" cy="658368"/>
          </a:xfrm>
          <a:prstGeom prst="roundRect">
            <a:avLst>
              <a:gd name="adj" fmla="val 11111"/>
            </a:avLst>
          </a:prstGeom>
          <a:solidFill>
            <a:srgbClr val="FFFDF8"/>
          </a:solidFill>
          <a:ln w="9525">
            <a:solidFill>
              <a:srgbClr val="E2DDD0"/>
            </a:solidFill>
            <a:prstDash val="solid"/>
          </a:ln>
        </p:spPr>
      </p:sp>
      <p:sp>
        <p:nvSpPr>
          <p:cNvPr id="8" name="Text 6"/>
          <p:cNvSpPr txBox="1"/>
          <p:nvPr/>
        </p:nvSpPr>
        <p:spPr>
          <a:xfrm>
            <a:off x="1042416" y="2660904"/>
            <a:ext cx="457200" cy="658368"/>
          </a:xfrm>
          <a:prstGeom prst="rect">
            <a:avLst/>
          </a:prstGeom>
          <a:noFill/>
          <a:ln/>
        </p:spPr>
        <p:txBody>
          <a:bodyPr wrap="square" lIns="0" tIns="0" rIns="0" bIns="0" rtlCol="0" anchor="ctr"/>
          <a:lstStyle/>
          <a:p>
            <a:pPr indent="0" marL="0">
              <a:buNone/>
            </a:pPr>
            <a:r>
              <a:rPr lang="en-US" sz="2400" b="1" dirty="0">
                <a:solidFill>
                  <a:srgbClr val="9A5B2E"/>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591056" y="2660904"/>
            <a:ext cx="9558223" cy="658368"/>
          </a:xfrm>
          <a:prstGeom prst="rect">
            <a:avLst/>
          </a:prstGeom>
          <a:noFill/>
          <a:ln/>
        </p:spPr>
        <p:txBody>
          <a:bodyPr wrap="square" lIns="0" tIns="0" rIns="0" bIns="0" rtlCol="0" anchor="ctr"/>
          <a:lstStyle/>
          <a:p>
            <a:pPr indent="0" marL="0">
              <a:buNone/>
            </a:pPr>
            <a:r>
              <a:rPr lang="en-US" sz="1600" b="1" dirty="0">
                <a:solidFill>
                  <a:srgbClr val="1E2A26"/>
                </a:solidFill>
                <a:latin typeface="Arial" pitchFamily="34" charset="0"/>
                <a:ea typeface="Arial" pitchFamily="34" charset="-122"/>
                <a:cs typeface="Arial" pitchFamily="34" charset="-120"/>
              </a:rPr>
              <a:t>Financer la collecte des ventes réelles</a:t>
            </a:r>
            <a:pPr indent="0" marL="0">
              <a:buNone/>
            </a:pPr>
            <a:r>
              <a:rPr lang="en-US" sz="1600" dirty="0">
                <a:solidFill>
                  <a:srgbClr val="1E2A26"/>
                </a:solidFill>
                <a:latin typeface="Arial" pitchFamily="34" charset="0"/>
                <a:ea typeface="Arial" pitchFamily="34" charset="-122"/>
                <a:cs typeface="Arial" pitchFamily="34" charset="-120"/>
              </a:rPr>
              <a:t> par producteur de café dès la campagne 2026</a:t>
            </a:r>
            <a:endParaRPr lang="en-US" sz="1600" dirty="0"/>
          </a:p>
        </p:txBody>
      </p:sp>
      <p:sp>
        <p:nvSpPr>
          <p:cNvPr id="10" name="Shape 8"/>
          <p:cNvSpPr/>
          <p:nvPr/>
        </p:nvSpPr>
        <p:spPr>
          <a:xfrm>
            <a:off x="813816" y="3447288"/>
            <a:ext cx="10564063" cy="658368"/>
          </a:xfrm>
          <a:prstGeom prst="roundRect">
            <a:avLst>
              <a:gd name="adj" fmla="val 11111"/>
            </a:avLst>
          </a:prstGeom>
          <a:solidFill>
            <a:srgbClr val="FFFDF8"/>
          </a:solidFill>
          <a:ln w="9525">
            <a:solidFill>
              <a:srgbClr val="E2DDD0"/>
            </a:solidFill>
            <a:prstDash val="solid"/>
          </a:ln>
        </p:spPr>
      </p:sp>
      <p:sp>
        <p:nvSpPr>
          <p:cNvPr id="11" name="Text 9"/>
          <p:cNvSpPr txBox="1"/>
          <p:nvPr/>
        </p:nvSpPr>
        <p:spPr>
          <a:xfrm>
            <a:off x="1042416" y="3447288"/>
            <a:ext cx="457200" cy="658368"/>
          </a:xfrm>
          <a:prstGeom prst="rect">
            <a:avLst/>
          </a:prstGeom>
          <a:noFill/>
          <a:ln/>
        </p:spPr>
        <p:txBody>
          <a:bodyPr wrap="square" lIns="0" tIns="0" rIns="0" bIns="0" rtlCol="0" anchor="ctr"/>
          <a:lstStyle/>
          <a:p>
            <a:pPr indent="0" marL="0">
              <a:buNone/>
            </a:pPr>
            <a:r>
              <a:rPr lang="en-US" sz="2400" b="1" dirty="0">
                <a:solidFill>
                  <a:srgbClr val="2E6B55"/>
                </a:solidFill>
                <a:latin typeface="Cambria" pitchFamily="34" charset="0"/>
                <a:ea typeface="Cambria" pitchFamily="34" charset="-122"/>
                <a:cs typeface="Cambria" pitchFamily="34" charset="-120"/>
              </a:rPr>
              <a:t>3</a:t>
            </a:r>
            <a:endParaRPr lang="en-US" sz="2400" dirty="0"/>
          </a:p>
        </p:txBody>
      </p:sp>
      <p:sp>
        <p:nvSpPr>
          <p:cNvPr id="12" name="Text 10"/>
          <p:cNvSpPr txBox="1"/>
          <p:nvPr/>
        </p:nvSpPr>
        <p:spPr>
          <a:xfrm>
            <a:off x="1591056" y="3447288"/>
            <a:ext cx="9558223" cy="658368"/>
          </a:xfrm>
          <a:prstGeom prst="rect">
            <a:avLst/>
          </a:prstGeom>
          <a:noFill/>
          <a:ln/>
        </p:spPr>
        <p:txBody>
          <a:bodyPr wrap="square" lIns="0" tIns="0" rIns="0" bIns="0" rtlCol="0" anchor="ctr"/>
          <a:lstStyle/>
          <a:p>
            <a:pPr indent="0" marL="0">
              <a:buNone/>
            </a:pPr>
            <a:r>
              <a:rPr lang="en-US" sz="1600" b="1" dirty="0">
                <a:solidFill>
                  <a:srgbClr val="1E2A26"/>
                </a:solidFill>
                <a:latin typeface="Arial" pitchFamily="34" charset="0"/>
                <a:ea typeface="Arial" pitchFamily="34" charset="-122"/>
                <a:cs typeface="Arial" pitchFamily="34" charset="-120"/>
              </a:rPr>
              <a:t>Retenir le seuil ajusté</a:t>
            </a:r>
            <a:pPr indent="0" marL="0">
              <a:buNone/>
            </a:pPr>
            <a:r>
              <a:rPr lang="en-US" sz="1600" dirty="0">
                <a:solidFill>
                  <a:srgbClr val="1E2A26"/>
                </a:solidFill>
                <a:latin typeface="Arial" pitchFamily="34" charset="0"/>
                <a:ea typeface="Arial" pitchFamily="34" charset="-122"/>
                <a:cs typeface="Arial" pitchFamily="34" charset="-120"/>
              </a:rPr>
              <a:t> à la taille du ménage comme indicateur principal de revenu vital cacao</a:t>
            </a:r>
            <a:endParaRPr lang="en-US" sz="1600" dirty="0"/>
          </a:p>
        </p:txBody>
      </p:sp>
      <p:sp>
        <p:nvSpPr>
          <p:cNvPr id="13" name="Shape 11"/>
          <p:cNvSpPr/>
          <p:nvPr/>
        </p:nvSpPr>
        <p:spPr>
          <a:xfrm>
            <a:off x="813816" y="4233672"/>
            <a:ext cx="10564063" cy="658368"/>
          </a:xfrm>
          <a:prstGeom prst="roundRect">
            <a:avLst>
              <a:gd name="adj" fmla="val 11111"/>
            </a:avLst>
          </a:prstGeom>
          <a:solidFill>
            <a:srgbClr val="FFFDF8"/>
          </a:solidFill>
          <a:ln w="9525">
            <a:solidFill>
              <a:srgbClr val="E2DDD0"/>
            </a:solidFill>
            <a:prstDash val="solid"/>
          </a:ln>
        </p:spPr>
      </p:sp>
      <p:sp>
        <p:nvSpPr>
          <p:cNvPr id="14" name="Text 12"/>
          <p:cNvSpPr txBox="1"/>
          <p:nvPr/>
        </p:nvSpPr>
        <p:spPr>
          <a:xfrm>
            <a:off x="1042416" y="4233672"/>
            <a:ext cx="457200" cy="658368"/>
          </a:xfrm>
          <a:prstGeom prst="rect">
            <a:avLst/>
          </a:prstGeom>
          <a:noFill/>
          <a:ln/>
        </p:spPr>
        <p:txBody>
          <a:bodyPr wrap="square" lIns="0" tIns="0" rIns="0" bIns="0" rtlCol="0" anchor="ctr"/>
          <a:lstStyle/>
          <a:p>
            <a:pPr indent="0" marL="0">
              <a:buNone/>
            </a:pPr>
            <a:r>
              <a:rPr lang="en-US" sz="2400" b="1" dirty="0">
                <a:solidFill>
                  <a:srgbClr val="2E6B55"/>
                </a:solidFill>
                <a:latin typeface="Cambria" pitchFamily="34" charset="0"/>
                <a:ea typeface="Cambria" pitchFamily="34" charset="-122"/>
                <a:cs typeface="Cambria" pitchFamily="34" charset="-120"/>
              </a:rPr>
              <a:t>4</a:t>
            </a:r>
            <a:endParaRPr lang="en-US" sz="2400" dirty="0"/>
          </a:p>
        </p:txBody>
      </p:sp>
      <p:sp>
        <p:nvSpPr>
          <p:cNvPr id="15" name="Text 13"/>
          <p:cNvSpPr txBox="1"/>
          <p:nvPr/>
        </p:nvSpPr>
        <p:spPr>
          <a:xfrm>
            <a:off x="1591056" y="4233672"/>
            <a:ext cx="9558223" cy="658368"/>
          </a:xfrm>
          <a:prstGeom prst="rect">
            <a:avLst/>
          </a:prstGeom>
          <a:noFill/>
          <a:ln/>
        </p:spPr>
        <p:txBody>
          <a:bodyPr wrap="square" lIns="0" tIns="0" rIns="0" bIns="0" rtlCol="0" anchor="ctr"/>
          <a:lstStyle/>
          <a:p>
            <a:pPr indent="0" marL="0">
              <a:buNone/>
            </a:pPr>
            <a:r>
              <a:rPr lang="en-US" sz="1600" b="1" dirty="0">
                <a:solidFill>
                  <a:srgbClr val="1E2A26"/>
                </a:solidFill>
                <a:latin typeface="Arial" pitchFamily="34" charset="0"/>
                <a:ea typeface="Arial" pitchFamily="34" charset="-122"/>
                <a:cs typeface="Arial" pitchFamily="34" charset="-120"/>
              </a:rPr>
              <a:t>Lancer la diversification des revenus cacao</a:t>
            </a:r>
            <a:pPr indent="0" marL="0">
              <a:buNone/>
            </a:pPr>
            <a:r>
              <a:rPr lang="en-US" sz="1600" dirty="0">
                <a:solidFill>
                  <a:srgbClr val="1E2A26"/>
                </a:solidFill>
                <a:latin typeface="Arial" pitchFamily="34" charset="0"/>
                <a:ea typeface="Arial" pitchFamily="34" charset="-122"/>
                <a:cs typeface="Arial" pitchFamily="34" charset="-120"/>
              </a:rPr>
              <a:t>, en priorité à Babungwe et Mambasa</a:t>
            </a:r>
            <a:endParaRPr lang="en-US" sz="1600" dirty="0"/>
          </a:p>
        </p:txBody>
      </p:sp>
      <p:sp>
        <p:nvSpPr>
          <p:cNvPr id="16" name="Shape 14"/>
          <p:cNvSpPr/>
          <p:nvPr/>
        </p:nvSpPr>
        <p:spPr>
          <a:xfrm>
            <a:off x="813816" y="5020056"/>
            <a:ext cx="10564063" cy="658368"/>
          </a:xfrm>
          <a:prstGeom prst="roundRect">
            <a:avLst>
              <a:gd name="adj" fmla="val 11111"/>
            </a:avLst>
          </a:prstGeom>
          <a:solidFill>
            <a:srgbClr val="FFFDF8"/>
          </a:solidFill>
          <a:ln w="9525">
            <a:solidFill>
              <a:srgbClr val="E2DDD0"/>
            </a:solidFill>
            <a:prstDash val="solid"/>
          </a:ln>
        </p:spPr>
      </p:sp>
      <p:sp>
        <p:nvSpPr>
          <p:cNvPr id="17" name="Text 15"/>
          <p:cNvSpPr txBox="1"/>
          <p:nvPr/>
        </p:nvSpPr>
        <p:spPr>
          <a:xfrm>
            <a:off x="1042416" y="5020056"/>
            <a:ext cx="457200" cy="658368"/>
          </a:xfrm>
          <a:prstGeom prst="rect">
            <a:avLst/>
          </a:prstGeom>
          <a:noFill/>
          <a:ln/>
        </p:spPr>
        <p:txBody>
          <a:bodyPr wrap="square" lIns="0" tIns="0" rIns="0" bIns="0" rtlCol="0" anchor="ctr"/>
          <a:lstStyle/>
          <a:p>
            <a:pPr indent="0" marL="0">
              <a:buNone/>
            </a:pPr>
            <a:r>
              <a:rPr lang="en-US" sz="2400" b="1" dirty="0">
                <a:solidFill>
                  <a:srgbClr val="1E2A26"/>
                </a:solidFill>
                <a:latin typeface="Cambria" pitchFamily="34" charset="0"/>
                <a:ea typeface="Cambria" pitchFamily="34" charset="-122"/>
                <a:cs typeface="Cambria" pitchFamily="34" charset="-120"/>
              </a:rPr>
              <a:t>5</a:t>
            </a:r>
            <a:endParaRPr lang="en-US" sz="2400" dirty="0"/>
          </a:p>
        </p:txBody>
      </p:sp>
      <p:sp>
        <p:nvSpPr>
          <p:cNvPr id="18" name="Text 16"/>
          <p:cNvSpPr txBox="1"/>
          <p:nvPr/>
        </p:nvSpPr>
        <p:spPr>
          <a:xfrm>
            <a:off x="1591056" y="5020056"/>
            <a:ext cx="9558223" cy="658368"/>
          </a:xfrm>
          <a:prstGeom prst="rect">
            <a:avLst/>
          </a:prstGeom>
          <a:noFill/>
          <a:ln/>
        </p:spPr>
        <p:txBody>
          <a:bodyPr wrap="square" lIns="0" tIns="0" rIns="0" bIns="0" rtlCol="0" anchor="ctr"/>
          <a:lstStyle/>
          <a:p>
            <a:pPr indent="0" marL="0">
              <a:buNone/>
            </a:pPr>
            <a:r>
              <a:rPr lang="en-US" sz="1600" b="1" dirty="0">
                <a:solidFill>
                  <a:srgbClr val="1E2A26"/>
                </a:solidFill>
                <a:latin typeface="Arial" pitchFamily="34" charset="0"/>
                <a:ea typeface="Arial" pitchFamily="34" charset="-122"/>
                <a:cs typeface="Arial" pitchFamily="34" charset="-120"/>
              </a:rPr>
              <a:t>Adopter les 12 indicateurs bailleur</a:t>
            </a:r>
            <a:pPr indent="0" marL="0">
              <a:buNone/>
            </a:pPr>
            <a:r>
              <a:rPr lang="en-US" sz="1600" dirty="0">
                <a:solidFill>
                  <a:srgbClr val="1E2A26"/>
                </a:solidFill>
                <a:latin typeface="Arial" pitchFamily="34" charset="0"/>
                <a:ea typeface="Arial" pitchFamily="34" charset="-122"/>
                <a:cs typeface="Arial" pitchFamily="34" charset="-120"/>
              </a:rPr>
              <a:t> proposés, dont 9 calculables dès aujourd'hui</a:t>
            </a:r>
            <a:endParaRPr lang="en-US" sz="1600" dirty="0"/>
          </a:p>
        </p:txBody>
      </p:sp>
      <p:sp>
        <p:nvSpPr>
          <p:cNvPr id="19" name="Text 17"/>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PÉRIMÈTRE ET MÉTHODE</a:t>
            </a:r>
            <a:endParaRPr lang="en-US" sz="1200" dirty="0"/>
          </a:p>
        </p:txBody>
      </p:sp>
      <p:sp>
        <p:nvSpPr>
          <p:cNvPr id="3" name="Text 1"/>
          <p:cNvSpPr txBox="1"/>
          <p:nvPr/>
        </p:nvSpPr>
        <p:spPr>
          <a:xfrm>
            <a:off x="813816" y="960120"/>
            <a:ext cx="10564063" cy="82296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Trois bases nettoyées et réunies dans un seul modèle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3816" y="1874520"/>
          <a:ext cx="10564063" cy="914400"/>
        </p:xfrm>
        <a:graphic>
          <a:graphicData uri="http://schemas.openxmlformats.org/drawingml/2006/table">
            <a:tbl>
              <a:tblPr/>
              <a:tblGrid>
                <a:gridCol w="2743200"/>
                <a:gridCol w="3840480"/>
                <a:gridCol w="1645920"/>
                <a:gridCol w="2331720"/>
              </a:tblGrid>
              <a:tr h="438912">
                <a:tc>
                  <a:txBody>
                    <a:bodyPr/>
                    <a:lstStyle/>
                    <a:p>
                      <a:pPr indent="0" marL="0">
                        <a:buNone/>
                      </a:pPr>
                      <a:r>
                        <a:rPr lang="en-US" sz="1400" b="1" dirty="0">
                          <a:solidFill>
                            <a:srgbClr val="F6F3EC"/>
                          </a:solidFill>
                          <a:latin typeface="Arial" pitchFamily="34" charset="0"/>
                          <a:ea typeface="Arial" pitchFamily="34" charset="-122"/>
                          <a:cs typeface="Arial" pitchFamily="34" charset="-120"/>
                        </a:rPr>
                        <a:t>Base</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400" b="1" dirty="0">
                          <a:solidFill>
                            <a:srgbClr val="F6F3EC"/>
                          </a:solidFill>
                          <a:latin typeface="Arial" pitchFamily="34" charset="0"/>
                          <a:ea typeface="Arial" pitchFamily="34" charset="-122"/>
                          <a:cs typeface="Arial" pitchFamily="34" charset="-120"/>
                        </a:rPr>
                        <a:t>Volume</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400" b="1" dirty="0">
                          <a:solidFill>
                            <a:srgbClr val="F6F3EC"/>
                          </a:solidFill>
                          <a:latin typeface="Arial" pitchFamily="34" charset="0"/>
                          <a:ea typeface="Arial" pitchFamily="34" charset="-122"/>
                          <a:cs typeface="Arial" pitchFamily="34" charset="-120"/>
                        </a:rPr>
                        <a:t>Période</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400" b="1" dirty="0">
                          <a:solidFill>
                            <a:srgbClr val="F6F3EC"/>
                          </a:solidFill>
                          <a:latin typeface="Arial" pitchFamily="34" charset="0"/>
                          <a:ea typeface="Arial" pitchFamily="34" charset="-122"/>
                          <a:cs typeface="Arial" pitchFamily="34" charset="-120"/>
                        </a:rPr>
                        <a:t>Usage</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r>
              <a:tr h="438912">
                <a:tc>
                  <a:txBody>
                    <a:bodyPr/>
                    <a:lstStyle/>
                    <a:p>
                      <a:pPr indent="0" marL="0">
                        <a:buNone/>
                      </a:pPr>
                      <a:r>
                        <a:rPr lang="en-US" sz="1400" dirty="0">
                          <a:solidFill>
                            <a:srgbClr val="1E2A26"/>
                          </a:solidFill>
                          <a:latin typeface="Arial" pitchFamily="34" charset="0"/>
                          <a:ea typeface="Arial" pitchFamily="34" charset="-122"/>
                          <a:cs typeface="Arial" pitchFamily="34" charset="-120"/>
                        </a:rPr>
                        <a:t>Base Rikolto café</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42 433 lignes, 12 833 personnes, 4 coopératives</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2019-2025</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Bénéficiaires, inclusion</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438912">
                <a:tc>
                  <a:txBody>
                    <a:bodyPr/>
                    <a:lstStyle/>
                    <a:p>
                      <a:pPr indent="0" marL="0">
                        <a:buNone/>
                      </a:pPr>
                      <a:r>
                        <a:rPr lang="en-US" sz="1400" dirty="0">
                          <a:solidFill>
                            <a:srgbClr val="1E2A26"/>
                          </a:solidFill>
                          <a:latin typeface="Arial" pitchFamily="34" charset="0"/>
                          <a:ea typeface="Arial" pitchFamily="34" charset="-122"/>
                          <a:cs typeface="Arial" pitchFamily="34" charset="-120"/>
                        </a:rPr>
                        <a:t>Enquête revenu vital cacao</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88 ménages valides sur 90</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Mars 2024</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Revenu, écart au seuil</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438912">
                <a:tc>
                  <a:txBody>
                    <a:bodyPr/>
                    <a:lstStyle/>
                    <a:p>
                      <a:pPr indent="0" marL="0">
                        <a:buNone/>
                      </a:pPr>
                      <a:r>
                        <a:rPr lang="en-US" sz="1400" dirty="0">
                          <a:solidFill>
                            <a:srgbClr val="1E2A26"/>
                          </a:solidFill>
                          <a:latin typeface="Arial" pitchFamily="34" charset="0"/>
                          <a:ea typeface="Arial" pitchFamily="34" charset="-122"/>
                          <a:cs typeface="Arial" pitchFamily="34" charset="-120"/>
                        </a:rPr>
                        <a:t>Planteurs Cacao Okapi</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301 planteurs, 5 sections</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2024</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400" dirty="0">
                          <a:solidFill>
                            <a:srgbClr val="1E2A26"/>
                          </a:solidFill>
                          <a:latin typeface="Arial" pitchFamily="34" charset="0"/>
                          <a:ea typeface="Arial" pitchFamily="34" charset="-122"/>
                          <a:cs typeface="Arial" pitchFamily="34" charset="-120"/>
                        </a:rPr>
                        <a:t>Superficies, tiges</a:t>
                      </a:r>
                      <a:endParaRPr lang="en-US" sz="14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bl>
          </a:graphicData>
        </a:graphic>
      </p:graphicFrame>
      <p:sp>
        <p:nvSpPr>
          <p:cNvPr id="5" name="Shape 2"/>
          <p:cNvSpPr/>
          <p:nvPr/>
        </p:nvSpPr>
        <p:spPr>
          <a:xfrm>
            <a:off x="813816" y="3977640"/>
            <a:ext cx="5181448" cy="1783080"/>
          </a:xfrm>
          <a:prstGeom prst="roundRect">
            <a:avLst>
              <a:gd name="adj" fmla="val 4103"/>
            </a:avLst>
          </a:prstGeom>
          <a:solidFill>
            <a:srgbClr val="E6EFEA"/>
          </a:solidFill>
          <a:ln/>
        </p:spPr>
      </p:sp>
      <p:sp>
        <p:nvSpPr>
          <p:cNvPr id="6" name="Text 3"/>
          <p:cNvSpPr txBox="1"/>
          <p:nvPr/>
        </p:nvSpPr>
        <p:spPr>
          <a:xfrm>
            <a:off x="1069848" y="4160520"/>
            <a:ext cx="4724248" cy="365760"/>
          </a:xfrm>
          <a:prstGeom prst="rect">
            <a:avLst/>
          </a:prstGeom>
          <a:noFill/>
          <a:ln/>
        </p:spPr>
        <p:txBody>
          <a:bodyPr wrap="square" lIns="0" tIns="0" rIns="0" bIns="0" rtlCol="0" anchor="ctr"/>
          <a:lstStyle/>
          <a:p>
            <a:pPr indent="0" marL="0">
              <a:buNone/>
            </a:pPr>
            <a:r>
              <a:rPr lang="en-US" sz="1600" b="1" dirty="0">
                <a:solidFill>
                  <a:srgbClr val="2E6B55"/>
                </a:solidFill>
                <a:latin typeface="Arial" pitchFamily="34" charset="0"/>
                <a:ea typeface="Arial" pitchFamily="34" charset="-122"/>
                <a:cs typeface="Arial" pitchFamily="34" charset="-120"/>
              </a:rPr>
              <a:t>Seuil de revenu vital</a:t>
            </a:r>
            <a:endParaRPr lang="en-US" sz="1600" dirty="0"/>
          </a:p>
        </p:txBody>
      </p:sp>
      <p:sp>
        <p:nvSpPr>
          <p:cNvPr id="7" name="Text 4"/>
          <p:cNvSpPr txBox="1"/>
          <p:nvPr/>
        </p:nvSpPr>
        <p:spPr>
          <a:xfrm>
            <a:off x="1069848" y="4572000"/>
            <a:ext cx="4724248" cy="1097280"/>
          </a:xfrm>
          <a:prstGeom prst="rect">
            <a:avLst/>
          </a:prstGeom>
          <a:noFill/>
          <a:ln/>
        </p:spPr>
        <p:txBody>
          <a:bodyPr wrap="square" lIns="0" tIns="0" rIns="0" bIns="0" rtlCol="0" anchor="t"/>
          <a:lstStyle/>
          <a:p>
            <a:pPr indent="0" marL="0">
              <a:buNone/>
            </a:pPr>
            <a:r>
              <a:rPr lang="en-US" sz="1400" dirty="0">
                <a:solidFill>
                  <a:srgbClr val="1E2A26"/>
                </a:solidFill>
                <a:latin typeface="Arial" pitchFamily="34" charset="0"/>
                <a:ea typeface="Arial" pitchFamily="34" charset="-122"/>
                <a:cs typeface="Arial" pitchFamily="34" charset="-120"/>
              </a:rPr>
              <a:t>Anker, RDC rurale 2025 : 2 628 USD par an pour un ménage de 6 personnes. Seuil ajusté : 438 USD par personne, car les ménages comptent 10,3 personnes.</a:t>
            </a:r>
            <a:endParaRPr lang="en-US" sz="1400" dirty="0"/>
          </a:p>
        </p:txBody>
      </p:sp>
      <p:sp>
        <p:nvSpPr>
          <p:cNvPr id="8" name="Shape 5"/>
          <p:cNvSpPr/>
          <p:nvPr/>
        </p:nvSpPr>
        <p:spPr>
          <a:xfrm>
            <a:off x="6196432" y="3977640"/>
            <a:ext cx="5181448" cy="1783080"/>
          </a:xfrm>
          <a:prstGeom prst="roundRect">
            <a:avLst>
              <a:gd name="adj" fmla="val 4103"/>
            </a:avLst>
          </a:prstGeom>
          <a:solidFill>
            <a:srgbClr val="F4E8DC"/>
          </a:solidFill>
          <a:ln/>
        </p:spPr>
      </p:sp>
      <p:sp>
        <p:nvSpPr>
          <p:cNvPr id="9" name="Text 6"/>
          <p:cNvSpPr txBox="1"/>
          <p:nvPr/>
        </p:nvSpPr>
        <p:spPr>
          <a:xfrm>
            <a:off x="6452464" y="4160520"/>
            <a:ext cx="4724248" cy="365760"/>
          </a:xfrm>
          <a:prstGeom prst="rect">
            <a:avLst/>
          </a:prstGeom>
          <a:noFill/>
          <a:ln/>
        </p:spPr>
        <p:txBody>
          <a:bodyPr wrap="square" lIns="0" tIns="0" rIns="0" bIns="0" rtlCol="0" anchor="ctr"/>
          <a:lstStyle/>
          <a:p>
            <a:pPr indent="0" marL="0">
              <a:buNone/>
            </a:pPr>
            <a:r>
              <a:rPr lang="en-US" sz="1600" b="1" dirty="0">
                <a:solidFill>
                  <a:srgbClr val="9A5B2E"/>
                </a:solidFill>
                <a:latin typeface="Arial" pitchFamily="34" charset="0"/>
                <a:ea typeface="Arial" pitchFamily="34" charset="-122"/>
                <a:cs typeface="Arial" pitchFamily="34" charset="-120"/>
              </a:rPr>
              <a:t>Traitements clés</a:t>
            </a:r>
            <a:endParaRPr lang="en-US" sz="1600" dirty="0"/>
          </a:p>
        </p:txBody>
      </p:sp>
      <p:sp>
        <p:nvSpPr>
          <p:cNvPr id="10" name="Text 7"/>
          <p:cNvSpPr txBox="1"/>
          <p:nvPr/>
        </p:nvSpPr>
        <p:spPr>
          <a:xfrm>
            <a:off x="6452464" y="4572000"/>
            <a:ext cx="4724248" cy="1097280"/>
          </a:xfrm>
          <a:prstGeom prst="rect">
            <a:avLst/>
          </a:prstGeom>
          <a:noFill/>
          <a:ln/>
        </p:spPr>
        <p:txBody>
          <a:bodyPr wrap="square" lIns="0" tIns="0" rIns="0" bIns="0" rtlCol="0" anchor="t"/>
          <a:lstStyle/>
          <a:p>
            <a:pPr indent="0" marL="0">
              <a:buNone/>
            </a:pPr>
            <a:r>
              <a:rPr lang="en-US" sz="1400" dirty="0">
                <a:solidFill>
                  <a:srgbClr val="1E2A26"/>
                </a:solidFill>
                <a:latin typeface="Arial" pitchFamily="34" charset="0"/>
                <a:ea typeface="Arial" pitchFamily="34" charset="-122"/>
                <a:cs typeface="Arial" pitchFamily="34" charset="-120"/>
              </a:rPr>
              <a:t>Revenu cacao recalculé sur 7 sources ; formules café reconstituées ; 23 contrôles qualité consignés dans un registre.</a:t>
            </a:r>
            <a:endParaRPr lang="en-US" sz="1400" dirty="0"/>
          </a:p>
        </p:txBody>
      </p:sp>
      <p:sp>
        <p:nvSpPr>
          <p:cNvPr id="11" name="Text 8"/>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CAFÉ · COUVERTURE</a:t>
            </a:r>
            <a:endParaRPr lang="en-US" sz="1200" dirty="0"/>
          </a:p>
        </p:txBody>
      </p:sp>
      <p:sp>
        <p:nvSpPr>
          <p:cNvPr id="3" name="Text 1"/>
          <p:cNvSpPr txBox="1"/>
          <p:nvPr/>
        </p:nvSpPr>
        <p:spPr>
          <a:xfrm>
            <a:off x="813816" y="960120"/>
            <a:ext cx="9601200" cy="109728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La hausse de 2024-2025 vient surtout de deux nouvelles coopératives</a:t>
            </a:r>
            <a:endParaRPr lang="en-US" sz="3200" dirty="0"/>
          </a:p>
        </p:txBody>
      </p:sp>
      <p:graphicFrame>
        <p:nvGraphicFramePr>
          <p:cNvPr id="4" name="Chart 0" descr=""/>
          <p:cNvGraphicFramePr/>
          <p:nvPr/>
        </p:nvGraphicFramePr>
        <p:xfrm>
          <a:off x="813816" y="2148840"/>
          <a:ext cx="7589520" cy="3977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732520" y="2377440"/>
            <a:ext cx="2651760" cy="685800"/>
          </a:xfrm>
          <a:prstGeom prst="rect">
            <a:avLst/>
          </a:prstGeom>
          <a:noFill/>
          <a:ln/>
        </p:spPr>
        <p:txBody>
          <a:bodyPr wrap="square" lIns="0" tIns="0" rIns="0" bIns="0" rtlCol="0" anchor="ctr"/>
          <a:lstStyle/>
          <a:p>
            <a:pPr indent="0" marL="0">
              <a:buNone/>
            </a:pPr>
            <a:r>
              <a:rPr lang="en-US" sz="3600" b="1" dirty="0">
                <a:solidFill>
                  <a:srgbClr val="9A5B2E"/>
                </a:solidFill>
                <a:latin typeface="Cambria" pitchFamily="34" charset="0"/>
                <a:ea typeface="Cambria" pitchFamily="34" charset="-122"/>
                <a:cs typeface="Cambria" pitchFamily="34" charset="-120"/>
              </a:rPr>
              <a:t>+68 %</a:t>
            </a:r>
            <a:endParaRPr lang="en-US" sz="3600" dirty="0"/>
          </a:p>
        </p:txBody>
      </p:sp>
      <p:sp>
        <p:nvSpPr>
          <p:cNvPr id="6" name="Text 3"/>
          <p:cNvSpPr txBox="1"/>
          <p:nvPr/>
        </p:nvSpPr>
        <p:spPr>
          <a:xfrm>
            <a:off x="8732520" y="3090672"/>
            <a:ext cx="2651760" cy="822960"/>
          </a:xfrm>
          <a:prstGeom prst="rect">
            <a:avLst/>
          </a:prstGeom>
          <a:noFill/>
          <a:ln/>
        </p:spPr>
        <p:txBody>
          <a:bodyPr wrap="square" lIns="0" tIns="0" rIns="0" bIns="0" rtlCol="0" anchor="t"/>
          <a:lstStyle/>
          <a:p>
            <a:pPr indent="0" marL="0">
              <a:buNone/>
            </a:pPr>
            <a:r>
              <a:rPr lang="en-US" sz="1400" dirty="0">
                <a:solidFill>
                  <a:srgbClr val="4A514C"/>
                </a:solidFill>
                <a:latin typeface="Arial" pitchFamily="34" charset="0"/>
                <a:ea typeface="Arial" pitchFamily="34" charset="-122"/>
                <a:cs typeface="Arial" pitchFamily="34" charset="-120"/>
              </a:rPr>
              <a:t>pour les coopératives historiques : 3 864 → 6 506 producteurs</a:t>
            </a:r>
            <a:endParaRPr lang="en-US" sz="1400" dirty="0"/>
          </a:p>
        </p:txBody>
      </p:sp>
      <p:sp>
        <p:nvSpPr>
          <p:cNvPr id="7" name="Text 4"/>
          <p:cNvSpPr txBox="1"/>
          <p:nvPr/>
        </p:nvSpPr>
        <p:spPr>
          <a:xfrm>
            <a:off x="8732520" y="3977640"/>
            <a:ext cx="2651760" cy="685800"/>
          </a:xfrm>
          <a:prstGeom prst="rect">
            <a:avLst/>
          </a:prstGeom>
          <a:noFill/>
          <a:ln/>
        </p:spPr>
        <p:txBody>
          <a:bodyPr wrap="square" lIns="0" tIns="0" rIns="0" bIns="0" rtlCol="0" anchor="ctr"/>
          <a:lstStyle/>
          <a:p>
            <a:pPr indent="0" marL="0">
              <a:buNone/>
            </a:pPr>
            <a:r>
              <a:rPr lang="en-US" sz="3600" b="1" dirty="0">
                <a:solidFill>
                  <a:srgbClr val="2E6B55"/>
                </a:solidFill>
                <a:latin typeface="Cambria" pitchFamily="34" charset="0"/>
                <a:ea typeface="Cambria" pitchFamily="34" charset="-122"/>
                <a:cs typeface="Cambria" pitchFamily="34" charset="-120"/>
              </a:rPr>
              <a:t>99,6 %</a:t>
            </a:r>
            <a:endParaRPr lang="en-US" sz="3600" dirty="0"/>
          </a:p>
        </p:txBody>
      </p:sp>
      <p:sp>
        <p:nvSpPr>
          <p:cNvPr id="8" name="Text 5"/>
          <p:cNvSpPr txBox="1"/>
          <p:nvPr/>
        </p:nvSpPr>
        <p:spPr>
          <a:xfrm>
            <a:off x="8732520" y="4690872"/>
            <a:ext cx="2651760" cy="822960"/>
          </a:xfrm>
          <a:prstGeom prst="rect">
            <a:avLst/>
          </a:prstGeom>
          <a:noFill/>
          <a:ln/>
        </p:spPr>
        <p:txBody>
          <a:bodyPr wrap="square" lIns="0" tIns="0" rIns="0" bIns="0" rtlCol="0" anchor="t"/>
          <a:lstStyle/>
          <a:p>
            <a:pPr indent="0" marL="0">
              <a:buNone/>
            </a:pPr>
            <a:r>
              <a:rPr lang="en-US" sz="1400" dirty="0">
                <a:solidFill>
                  <a:srgbClr val="4A514C"/>
                </a:solidFill>
                <a:latin typeface="Arial" pitchFamily="34" charset="0"/>
                <a:ea typeface="Arial" pitchFamily="34" charset="-122"/>
                <a:cs typeface="Arial" pitchFamily="34" charset="-120"/>
              </a:rPr>
              <a:t>de rétention 2024 → 2025 ; 3 216 producteurs présents sur les 7 campagnes</a:t>
            </a:r>
            <a:endParaRPr lang="en-US" sz="1400" dirty="0"/>
          </a:p>
        </p:txBody>
      </p:sp>
      <p:sp>
        <p:nvSpPr>
          <p:cNvPr id="9" name="Text 6"/>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Producteurs enregistrés par campagne · base consolidée Rikolto café 2019-2025</a:t>
            </a:r>
            <a:endParaRPr lang="en-US" sz="1100" dirty="0"/>
          </a:p>
        </p:txBody>
      </p:sp>
      <p:sp>
        <p:nvSpPr>
          <p:cNvPr id="10" name="Text 7"/>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CAFÉ · INCLUSION</a:t>
            </a:r>
            <a:endParaRPr lang="en-US" sz="1200" dirty="0"/>
          </a:p>
        </p:txBody>
      </p:sp>
      <p:sp>
        <p:nvSpPr>
          <p:cNvPr id="3" name="Text 1"/>
          <p:cNvSpPr txBox="1"/>
          <p:nvPr/>
        </p:nvSpPr>
        <p:spPr>
          <a:xfrm>
            <a:off x="813816" y="960120"/>
            <a:ext cx="9875520" cy="109728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Plus de femmes, et des jeunes qui reviennent après la baisse de 2023</a:t>
            </a:r>
            <a:endParaRPr lang="en-US" sz="3200" dirty="0"/>
          </a:p>
        </p:txBody>
      </p:sp>
      <p:graphicFrame>
        <p:nvGraphicFramePr>
          <p:cNvPr id="4" name="Chart 0" descr=""/>
          <p:cNvGraphicFramePr/>
          <p:nvPr/>
        </p:nvGraphicFramePr>
        <p:xfrm>
          <a:off x="813816" y="2148840"/>
          <a:ext cx="75895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732520" y="2240280"/>
            <a:ext cx="2651760" cy="3291840"/>
          </a:xfrm>
          <a:prstGeom prst="roundRect">
            <a:avLst>
              <a:gd name="adj" fmla="val 2759"/>
            </a:avLst>
          </a:prstGeom>
          <a:solidFill>
            <a:srgbClr val="FFFDF8"/>
          </a:solidFill>
          <a:ln w="9525">
            <a:solidFill>
              <a:srgbClr val="E2DDD0"/>
            </a:solidFill>
            <a:prstDash val="solid"/>
          </a:ln>
        </p:spPr>
      </p:sp>
      <p:sp>
        <p:nvSpPr>
          <p:cNvPr id="6" name="Text 3"/>
          <p:cNvSpPr txBox="1"/>
          <p:nvPr/>
        </p:nvSpPr>
        <p:spPr>
          <a:xfrm>
            <a:off x="8961120" y="2423160"/>
            <a:ext cx="2286000" cy="365760"/>
          </a:xfrm>
          <a:prstGeom prst="rect">
            <a:avLst/>
          </a:prstGeom>
          <a:noFill/>
          <a:ln/>
        </p:spPr>
        <p:txBody>
          <a:bodyPr wrap="square" lIns="0" tIns="0" rIns="0" bIns="0" rtlCol="0" anchor="ctr"/>
          <a:lstStyle/>
          <a:p>
            <a:pPr indent="0" marL="0">
              <a:buNone/>
            </a:pPr>
            <a:r>
              <a:rPr lang="en-US" sz="1600" b="1" dirty="0">
                <a:solidFill>
                  <a:srgbClr val="1E2A26"/>
                </a:solidFill>
                <a:latin typeface="Arial" pitchFamily="34" charset="0"/>
                <a:ea typeface="Arial" pitchFamily="34" charset="-122"/>
                <a:cs typeface="Arial" pitchFamily="34" charset="-120"/>
              </a:rPr>
              <a:t>Deux écarts ciblés</a:t>
            </a:r>
            <a:endParaRPr lang="en-US" sz="1600" dirty="0"/>
          </a:p>
        </p:txBody>
      </p:sp>
      <p:sp>
        <p:nvSpPr>
          <p:cNvPr id="7" name="Text 4"/>
          <p:cNvSpPr txBox="1"/>
          <p:nvPr/>
        </p:nvSpPr>
        <p:spPr>
          <a:xfrm>
            <a:off x="8961120" y="2880360"/>
            <a:ext cx="2286000" cy="2468880"/>
          </a:xfrm>
          <a:prstGeom prst="rect">
            <a:avLst/>
          </a:prstGeom>
          <a:noFill/>
          <a:ln/>
        </p:spPr>
        <p:txBody>
          <a:bodyPr wrap="square" lIns="0" tIns="0" rIns="0" bIns="0" rtlCol="0" anchor="t"/>
          <a:lstStyle/>
          <a:p>
            <a:pPr indent="0" marL="0">
              <a:buNone/>
            </a:pPr>
            <a:r>
              <a:rPr lang="en-US" sz="1400" dirty="0">
                <a:solidFill>
                  <a:srgbClr val="4A514C"/>
                </a:solidFill>
                <a:latin typeface="Arial" pitchFamily="34" charset="0"/>
                <a:ea typeface="Arial" pitchFamily="34" charset="-122"/>
                <a:cs typeface="Arial" pitchFamily="34" charset="-120"/>
              </a:rPr>
              <a:t>COOKKANZ : 12 % de femmes seulement.</a:t>
            </a:r>
            <a:endParaRPr lang="en-US" sz="1400" dirty="0"/>
          </a:p>
          <a:p>
            <a:pPr indent="0" marL="0">
              <a:buNone/>
            </a:pPr>
            <a:r>
              <a:rPr lang="en-US" sz="1400" dirty="0">
                <a:solidFill>
                  <a:srgbClr val="4A514C"/>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4A514C"/>
                </a:solidFill>
                <a:latin typeface="Arial" pitchFamily="34" charset="0"/>
                <a:ea typeface="Arial" pitchFamily="34" charset="-122"/>
                <a:cs typeface="Arial" pitchFamily="34" charset="-120"/>
              </a:rPr>
              <a:t>CKK : 24 % de jeunes seulement.</a:t>
            </a:r>
            <a:endParaRPr lang="en-US" sz="1400" dirty="0"/>
          </a:p>
          <a:p>
            <a:pPr indent="0" marL="0">
              <a:buNone/>
            </a:pPr>
            <a:r>
              <a:rPr lang="en-US" sz="1400" dirty="0">
                <a:solidFill>
                  <a:srgbClr val="4A514C"/>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4A514C"/>
                </a:solidFill>
                <a:latin typeface="Arial" pitchFamily="34" charset="0"/>
                <a:ea typeface="Arial" pitchFamily="34" charset="-122"/>
                <a:cs typeface="Arial" pitchFamily="34" charset="-120"/>
              </a:rPr>
              <a:t>La moyenne globale, tirée par les nouvelles OP, masque ces écarts.</a:t>
            </a:r>
            <a:endParaRPr lang="en-US" sz="1400" dirty="0"/>
          </a:p>
        </p:txBody>
      </p:sp>
      <p:sp>
        <p:nvSpPr>
          <p:cNvPr id="8" name="Text 5"/>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Part des producteurs café · jeunes = 15-35 ans, rapportés à l'ensemble des producteurs · base Rikolto café 2019-2025</a:t>
            </a:r>
            <a:endParaRPr lang="en-US" sz="1100" dirty="0"/>
          </a:p>
        </p:txBody>
      </p:sp>
      <p:sp>
        <p:nvSpPr>
          <p:cNvPr id="9" name="Text 6"/>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CAFÉ · COOPÉRATIVES 2025</a:t>
            </a:r>
            <a:endParaRPr lang="en-US" sz="1200" dirty="0"/>
          </a:p>
        </p:txBody>
      </p:sp>
      <p:sp>
        <p:nvSpPr>
          <p:cNvPr id="3" name="Text 1"/>
          <p:cNvSpPr txBox="1"/>
          <p:nvPr/>
        </p:nvSpPr>
        <p:spPr>
          <a:xfrm>
            <a:off x="813816" y="960120"/>
            <a:ext cx="10058400" cy="109728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87 % des producteurs sont certifiés ; COOKURU est encore en conversion</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3816" y="2148840"/>
          <a:ext cx="10564063" cy="914400"/>
        </p:xfrm>
        <a:graphic>
          <a:graphicData uri="http://schemas.openxmlformats.org/drawingml/2006/table">
            <a:tbl>
              <a:tblPr/>
              <a:tblGrid>
                <a:gridCol w="2377440"/>
                <a:gridCol w="1737360"/>
                <a:gridCol w="1737360"/>
                <a:gridCol w="1737360"/>
                <a:gridCol w="1463040"/>
                <a:gridCol w="1508760"/>
              </a:tblGrid>
              <a:tr h="475488">
                <a:tc>
                  <a:txBody>
                    <a:bodyPr/>
                    <a:lstStyle/>
                    <a:p>
                      <a:pPr algn="l" indent="0" marL="0">
                        <a:buNone/>
                      </a:pPr>
                      <a:r>
                        <a:rPr lang="en-US" sz="1600" b="1" dirty="0">
                          <a:solidFill>
                            <a:srgbClr val="F6F3EC"/>
                          </a:solidFill>
                          <a:latin typeface="Arial" pitchFamily="34" charset="0"/>
                          <a:ea typeface="Arial" pitchFamily="34" charset="-122"/>
                          <a:cs typeface="Arial" pitchFamily="34" charset="-120"/>
                        </a:rPr>
                        <a:t>Coopérative</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algn="r" indent="0" marL="0">
                        <a:buNone/>
                      </a:pPr>
                      <a:r>
                        <a:rPr lang="en-US" sz="1600" b="1" dirty="0">
                          <a:solidFill>
                            <a:srgbClr val="F6F3EC"/>
                          </a:solidFill>
                          <a:latin typeface="Arial" pitchFamily="34" charset="0"/>
                          <a:ea typeface="Arial" pitchFamily="34" charset="-122"/>
                          <a:cs typeface="Arial" pitchFamily="34" charset="-120"/>
                        </a:rPr>
                        <a:t>Producteurs</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algn="r" indent="0" marL="0">
                        <a:buNone/>
                      </a:pPr>
                      <a:r>
                        <a:rPr lang="en-US" sz="1600" b="1" dirty="0">
                          <a:solidFill>
                            <a:srgbClr val="F6F3EC"/>
                          </a:solidFill>
                          <a:latin typeface="Arial" pitchFamily="34" charset="0"/>
                          <a:ea typeface="Arial" pitchFamily="34" charset="-122"/>
                          <a:cs typeface="Arial" pitchFamily="34" charset="-120"/>
                        </a:rPr>
                        <a:t>Femmes</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algn="r" indent="0" marL="0">
                        <a:buNone/>
                      </a:pPr>
                      <a:r>
                        <a:rPr lang="en-US" sz="1600" b="1" dirty="0">
                          <a:solidFill>
                            <a:srgbClr val="F6F3EC"/>
                          </a:solidFill>
                          <a:latin typeface="Arial" pitchFamily="34" charset="0"/>
                          <a:ea typeface="Arial" pitchFamily="34" charset="-122"/>
                          <a:cs typeface="Arial" pitchFamily="34" charset="-120"/>
                        </a:rPr>
                        <a:t>Jeunes</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algn="r" indent="0" marL="0">
                        <a:buNone/>
                      </a:pPr>
                      <a:r>
                        <a:rPr lang="en-US" sz="1600" b="1" dirty="0">
                          <a:solidFill>
                            <a:srgbClr val="F6F3EC"/>
                          </a:solidFill>
                          <a:latin typeface="Arial" pitchFamily="34" charset="0"/>
                          <a:ea typeface="Arial" pitchFamily="34" charset="-122"/>
                          <a:cs typeface="Arial" pitchFamily="34" charset="-120"/>
                        </a:rPr>
                        <a:t>Ha moyen</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algn="r" indent="0" marL="0">
                        <a:buNone/>
                      </a:pPr>
                      <a:r>
                        <a:rPr lang="en-US" sz="1600" b="1" dirty="0">
                          <a:solidFill>
                            <a:srgbClr val="F6F3EC"/>
                          </a:solidFill>
                          <a:latin typeface="Arial" pitchFamily="34" charset="0"/>
                          <a:ea typeface="Arial" pitchFamily="34" charset="-122"/>
                          <a:cs typeface="Arial" pitchFamily="34" charset="-120"/>
                        </a:rPr>
                        <a:t>Certifiés</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r>
              <a:tr h="475488">
                <a:tc>
                  <a:txBody>
                    <a:bodyPr/>
                    <a:lstStyle/>
                    <a:p>
                      <a:pPr algn="l" indent="0" marL="0">
                        <a:buNone/>
                      </a:pPr>
                      <a:r>
                        <a:rPr lang="en-US" sz="1600" dirty="0">
                          <a:solidFill>
                            <a:srgbClr val="1E2A26"/>
                          </a:solidFill>
                          <a:latin typeface="Arial" pitchFamily="34" charset="0"/>
                          <a:ea typeface="Arial" pitchFamily="34" charset="-122"/>
                          <a:cs typeface="Arial" pitchFamily="34" charset="-120"/>
                        </a:rPr>
                        <a:t>COOPADE</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4 082</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26,5 %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49,8 %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0,56</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100 %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475488">
                <a:tc>
                  <a:txBody>
                    <a:bodyPr/>
                    <a:lstStyle/>
                    <a:p>
                      <a:pPr algn="l" indent="0" marL="0">
                        <a:buNone/>
                      </a:pPr>
                      <a:r>
                        <a:rPr lang="en-US" sz="1600" dirty="0">
                          <a:solidFill>
                            <a:srgbClr val="1E2A26"/>
                          </a:solidFill>
                          <a:latin typeface="Arial" pitchFamily="34" charset="0"/>
                          <a:ea typeface="Arial" pitchFamily="34" charset="-122"/>
                          <a:cs typeface="Arial" pitchFamily="34" charset="-120"/>
                        </a:rPr>
                        <a:t>COOKKANZ</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3 316</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b="1" dirty="0">
                          <a:solidFill>
                            <a:srgbClr val="A83A32"/>
                          </a:solidFill>
                          <a:latin typeface="Arial" pitchFamily="34" charset="0"/>
                          <a:ea typeface="Arial" pitchFamily="34" charset="-122"/>
                          <a:cs typeface="Arial" pitchFamily="34" charset="-120"/>
                        </a:rPr>
                        <a:t>12,0 % (bas)</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56,2 %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0,55</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100 %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475488">
                <a:tc>
                  <a:txBody>
                    <a:bodyPr/>
                    <a:lstStyle/>
                    <a:p>
                      <a:pPr algn="l" indent="0" marL="0">
                        <a:buNone/>
                      </a:pPr>
                      <a:r>
                        <a:rPr lang="en-US" sz="1600" dirty="0">
                          <a:solidFill>
                            <a:srgbClr val="1E2A26"/>
                          </a:solidFill>
                          <a:latin typeface="Arial" pitchFamily="34" charset="0"/>
                          <a:ea typeface="Arial" pitchFamily="34" charset="-122"/>
                          <a:cs typeface="Arial" pitchFamily="34" charset="-120"/>
                        </a:rPr>
                        <a:t>CKK</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3 190</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32,4 %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b="1" dirty="0">
                          <a:solidFill>
                            <a:srgbClr val="A83A32"/>
                          </a:solidFill>
                          <a:latin typeface="Arial" pitchFamily="34" charset="0"/>
                          <a:ea typeface="Arial" pitchFamily="34" charset="-122"/>
                          <a:cs typeface="Arial" pitchFamily="34" charset="-120"/>
                        </a:rPr>
                        <a:t>23,6 % (bas)</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0,56</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100 %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475488">
                <a:tc>
                  <a:txBody>
                    <a:bodyPr/>
                    <a:lstStyle/>
                    <a:p>
                      <a:pPr algn="l" indent="0" marL="0">
                        <a:buNone/>
                      </a:pPr>
                      <a:r>
                        <a:rPr lang="en-US" sz="1600" dirty="0">
                          <a:solidFill>
                            <a:srgbClr val="1E2A26"/>
                          </a:solidFill>
                          <a:latin typeface="Arial" pitchFamily="34" charset="0"/>
                          <a:ea typeface="Arial" pitchFamily="34" charset="-122"/>
                          <a:cs typeface="Arial" pitchFamily="34" charset="-120"/>
                        </a:rPr>
                        <a:t>COOKURU</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1 596</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37,9 %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50,1 %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0,54</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algn="r" indent="0" marL="0">
                        <a:buNone/>
                      </a:pPr>
                      <a:r>
                        <a:rPr lang="en-US" sz="1600" dirty="0">
                          <a:solidFill>
                            <a:srgbClr val="1E2A26"/>
                          </a:solidFill>
                          <a:latin typeface="Arial" pitchFamily="34" charset="0"/>
                          <a:ea typeface="Arial" pitchFamily="34" charset="-122"/>
                          <a:cs typeface="Arial" pitchFamily="34" charset="-120"/>
                        </a:rPr>
                        <a:t>0 % (conversion)</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475488">
                <a:tc>
                  <a:txBody>
                    <a:bodyPr/>
                    <a:lstStyle/>
                    <a:p>
                      <a:pPr algn="l" indent="0" marL="0">
                        <a:buNone/>
                      </a:pPr>
                      <a:r>
                        <a:rPr lang="en-US" sz="1600" b="1" dirty="0">
                          <a:solidFill>
                            <a:srgbClr val="1E2A26"/>
                          </a:solidFill>
                          <a:latin typeface="Arial" pitchFamily="34" charset="0"/>
                          <a:ea typeface="Arial" pitchFamily="34" charset="-122"/>
                          <a:cs typeface="Arial" pitchFamily="34" charset="-120"/>
                        </a:rPr>
                        <a:t>Ensemble</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E6EFEA"/>
                    </a:solidFill>
                  </a:tcPr>
                </a:tc>
                <a:tc>
                  <a:txBody>
                    <a:bodyPr/>
                    <a:lstStyle/>
                    <a:p>
                      <a:pPr algn="r" indent="0" marL="0">
                        <a:buNone/>
                      </a:pPr>
                      <a:r>
                        <a:rPr lang="en-US" sz="1600" b="1" dirty="0">
                          <a:solidFill>
                            <a:srgbClr val="1E2A26"/>
                          </a:solidFill>
                          <a:latin typeface="Arial" pitchFamily="34" charset="0"/>
                          <a:ea typeface="Arial" pitchFamily="34" charset="-122"/>
                          <a:cs typeface="Arial" pitchFamily="34" charset="-120"/>
                        </a:rPr>
                        <a:t>12 184</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E6EFEA"/>
                    </a:solidFill>
                  </a:tcPr>
                </a:tc>
                <a:tc>
                  <a:txBody>
                    <a:bodyPr/>
                    <a:lstStyle/>
                    <a:p>
                      <a:pPr algn="r" indent="0" marL="0">
                        <a:buNone/>
                      </a:pPr>
                      <a:r>
                        <a:rPr lang="en-US" sz="1600" b="1" dirty="0">
                          <a:solidFill>
                            <a:srgbClr val="1E2A26"/>
                          </a:solidFill>
                          <a:latin typeface="Arial" pitchFamily="34" charset="0"/>
                          <a:ea typeface="Arial" pitchFamily="34" charset="-122"/>
                          <a:cs typeface="Arial" pitchFamily="34" charset="-120"/>
                        </a:rPr>
                        <a:t>25,6 %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E6EFEA"/>
                    </a:solidFill>
                  </a:tcPr>
                </a:tc>
                <a:tc>
                  <a:txBody>
                    <a:bodyPr/>
                    <a:lstStyle/>
                    <a:p>
                      <a:pPr algn="r" indent="0" marL="0">
                        <a:buNone/>
                      </a:pPr>
                      <a:r>
                        <a:rPr lang="en-US" sz="1600" b="1" dirty="0">
                          <a:solidFill>
                            <a:srgbClr val="1E2A26"/>
                          </a:solidFill>
                          <a:latin typeface="Arial" pitchFamily="34" charset="0"/>
                          <a:ea typeface="Arial" pitchFamily="34" charset="-122"/>
                          <a:cs typeface="Arial" pitchFamily="34" charset="-120"/>
                        </a:rPr>
                        <a:t>44,7 %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E6EFEA"/>
                    </a:solidFill>
                  </a:tcPr>
                </a:tc>
                <a:tc>
                  <a:txBody>
                    <a:bodyPr/>
                    <a:lstStyle/>
                    <a:p>
                      <a:pPr algn="r" indent="0" marL="0">
                        <a:buNone/>
                      </a:pPr>
                      <a:r>
                        <a:rPr lang="en-US" sz="1600" b="1" dirty="0">
                          <a:solidFill>
                            <a:srgbClr val="1E2A26"/>
                          </a:solidFill>
                          <a:latin typeface="Arial" pitchFamily="34" charset="0"/>
                          <a:ea typeface="Arial" pitchFamily="34" charset="-122"/>
                          <a:cs typeface="Arial" pitchFamily="34" charset="-120"/>
                        </a:rPr>
                        <a:t>0,56</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E6EFEA"/>
                    </a:solidFill>
                  </a:tcPr>
                </a:tc>
                <a:tc>
                  <a:txBody>
                    <a:bodyPr/>
                    <a:lstStyle/>
                    <a:p>
                      <a:pPr algn="r" indent="0" marL="0">
                        <a:buNone/>
                      </a:pPr>
                      <a:r>
                        <a:rPr lang="en-US" sz="1600" b="1" dirty="0">
                          <a:solidFill>
                            <a:srgbClr val="1E2A26"/>
                          </a:solidFill>
                          <a:latin typeface="Arial" pitchFamily="34" charset="0"/>
                          <a:ea typeface="Arial" pitchFamily="34" charset="-122"/>
                          <a:cs typeface="Arial" pitchFamily="34" charset="-120"/>
                        </a:rPr>
                        <a:t>86,9 %</a:t>
                      </a:r>
                      <a:endParaRPr lang="en-US" sz="1600" dirty="0">
                        <a:latin typeface="Arial" charset="0"/>
                        <a:ea typeface="Arial" charset="0"/>
                        <a:cs typeface="Arial" charset="0"/>
                      </a:endParaRPr>
                    </a:p>
                  </a:txBody>
                  <a:tcPr marL="109728" marR="109728"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E6EFEA"/>
                    </a:solidFill>
                  </a:tcPr>
                </a:tc>
              </a:tr>
            </a:tbl>
          </a:graphicData>
        </a:graphic>
      </p:graphicFrame>
      <p:sp>
        <p:nvSpPr>
          <p:cNvPr id="5" name="Text 2"/>
          <p:cNvSpPr txBox="1"/>
          <p:nvPr/>
        </p:nvSpPr>
        <p:spPr>
          <a:xfrm>
            <a:off x="813816" y="5257800"/>
            <a:ext cx="9601200" cy="640080"/>
          </a:xfrm>
          <a:prstGeom prst="rect">
            <a:avLst/>
          </a:prstGeom>
          <a:noFill/>
          <a:ln/>
        </p:spPr>
        <p:txBody>
          <a:bodyPr wrap="square" lIns="0" tIns="0" rIns="0" bIns="0" rtlCol="0" anchor="t"/>
          <a:lstStyle/>
          <a:p>
            <a:pPr indent="0" marL="0">
              <a:buNone/>
            </a:pPr>
            <a:r>
              <a:rPr lang="en-US" sz="1400" dirty="0">
                <a:solidFill>
                  <a:srgbClr val="4A514C"/>
                </a:solidFill>
                <a:latin typeface="Arial" pitchFamily="34" charset="0"/>
                <a:ea typeface="Arial" pitchFamily="34" charset="-122"/>
                <a:cs typeface="Arial" pitchFamily="34" charset="-120"/>
              </a:rPr>
              <a:t>La superficie moyenne déclarée reste stable à 0,55 ha par producteur chaque année : c'est la donnée économique la plus fiable de la base.</a:t>
            </a:r>
            <a:endParaRPr lang="en-US" sz="1400" dirty="0"/>
          </a:p>
        </p:txBody>
      </p:sp>
      <p:sp>
        <p:nvSpPr>
          <p:cNvPr id="6" name="Text 3"/>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Campagne 2025 · jeunes = 15-35 ans · base consolidée Rikolto café</a:t>
            </a:r>
            <a:endParaRPr lang="en-US" sz="1100" dirty="0"/>
          </a:p>
        </p:txBody>
      </p:sp>
      <p:sp>
        <p:nvSpPr>
          <p:cNvPr id="7" name="Text 4"/>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E3419"/>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EBC79E"/>
                </a:solidFill>
                <a:latin typeface="Arial" pitchFamily="34" charset="0"/>
                <a:ea typeface="Arial" pitchFamily="34" charset="-122"/>
                <a:cs typeface="Arial" pitchFamily="34" charset="-120"/>
              </a:rPr>
              <a:t>CAFÉ · PRODUCTION ET ÉCONOMIE</a:t>
            </a:r>
            <a:endParaRPr lang="en-US" sz="1200" dirty="0"/>
          </a:p>
        </p:txBody>
      </p:sp>
      <p:sp>
        <p:nvSpPr>
          <p:cNvPr id="3" name="Text 1"/>
          <p:cNvSpPr txBox="1"/>
          <p:nvPr/>
        </p:nvSpPr>
        <p:spPr>
          <a:xfrm>
            <a:off x="813816" y="960120"/>
            <a:ext cx="10332720" cy="1463040"/>
          </a:xfrm>
          <a:prstGeom prst="rect">
            <a:avLst/>
          </a:prstGeom>
          <a:noFill/>
          <a:ln/>
        </p:spPr>
        <p:txBody>
          <a:bodyPr wrap="square" lIns="0" tIns="0" rIns="0" bIns="0" rtlCol="0" anchor="t"/>
          <a:lstStyle/>
          <a:p>
            <a:pPr indent="0" marL="0">
              <a:buNone/>
            </a:pPr>
            <a:r>
              <a:rPr lang="en-US" sz="3400" b="1" dirty="0">
                <a:solidFill>
                  <a:srgbClr val="F6F3EC"/>
                </a:solidFill>
                <a:latin typeface="Cambria" pitchFamily="34" charset="0"/>
                <a:ea typeface="Cambria" pitchFamily="34" charset="-122"/>
                <a:cs typeface="Cambria" pitchFamily="34" charset="-120"/>
              </a:rPr>
              <a:t>Les chiffres économiques du café sont calculés, pas mesurés : ils ne prouvent pas un gain de revenu</a:t>
            </a:r>
            <a:endParaRPr lang="en-US" sz="3400" dirty="0"/>
          </a:p>
        </p:txBody>
      </p:sp>
      <p:sp>
        <p:nvSpPr>
          <p:cNvPr id="4" name="Shape 2"/>
          <p:cNvSpPr/>
          <p:nvPr/>
        </p:nvSpPr>
        <p:spPr>
          <a:xfrm>
            <a:off x="813816" y="2788920"/>
            <a:ext cx="3387242" cy="1600200"/>
          </a:xfrm>
          <a:prstGeom prst="roundRect">
            <a:avLst>
              <a:gd name="adj" fmla="val 4571"/>
            </a:avLst>
          </a:prstGeom>
          <a:solidFill>
            <a:srgbClr val="6E4125"/>
          </a:solidFill>
          <a:ln/>
        </p:spPr>
      </p:sp>
      <p:sp>
        <p:nvSpPr>
          <p:cNvPr id="5" name="Text 3"/>
          <p:cNvSpPr txBox="1"/>
          <p:nvPr/>
        </p:nvSpPr>
        <p:spPr>
          <a:xfrm>
            <a:off x="1069848" y="2971800"/>
            <a:ext cx="2930042" cy="365760"/>
          </a:xfrm>
          <a:prstGeom prst="rect">
            <a:avLst/>
          </a:prstGeom>
          <a:noFill/>
          <a:ln/>
        </p:spPr>
        <p:txBody>
          <a:bodyPr wrap="square" lIns="0" tIns="0" rIns="0" bIns="0" rtlCol="0" anchor="ctr"/>
          <a:lstStyle/>
          <a:p>
            <a:pPr indent="0" marL="0">
              <a:buNone/>
            </a:pPr>
            <a:r>
              <a:rPr lang="en-US" sz="1600" b="1" dirty="0">
                <a:solidFill>
                  <a:srgbClr val="EBC79E"/>
                </a:solidFill>
                <a:latin typeface="Arial" pitchFamily="34" charset="0"/>
                <a:ea typeface="Arial" pitchFamily="34" charset="-122"/>
                <a:cs typeface="Arial" pitchFamily="34" charset="-120"/>
              </a:rPr>
              <a:t>Production</a:t>
            </a:r>
            <a:endParaRPr lang="en-US" sz="1600" dirty="0"/>
          </a:p>
        </p:txBody>
      </p:sp>
      <p:sp>
        <p:nvSpPr>
          <p:cNvPr id="6" name="Text 4"/>
          <p:cNvSpPr txBox="1"/>
          <p:nvPr/>
        </p:nvSpPr>
        <p:spPr>
          <a:xfrm>
            <a:off x="1069848" y="3383280"/>
            <a:ext cx="2930042" cy="914400"/>
          </a:xfrm>
          <a:prstGeom prst="rect">
            <a:avLst/>
          </a:prstGeom>
          <a:noFill/>
          <a:ln/>
        </p:spPr>
        <p:txBody>
          <a:bodyPr wrap="square" lIns="0" tIns="0" rIns="0" bIns="0" rtlCol="0" anchor="t"/>
          <a:lstStyle/>
          <a:p>
            <a:pPr indent="0" marL="0">
              <a:buNone/>
            </a:pPr>
            <a:r>
              <a:rPr lang="en-US" sz="1400" dirty="0">
                <a:solidFill>
                  <a:srgbClr val="F6F3EC"/>
                </a:solidFill>
                <a:latin typeface="Arial" pitchFamily="34" charset="0"/>
                <a:ea typeface="Arial" pitchFamily="34" charset="-122"/>
                <a:cs typeface="Arial" pitchFamily="34" charset="-120"/>
              </a:rPr>
              <a:t>Superficie × densité × rendement par pied, deux paramètres qui changent chaque campagne</a:t>
            </a:r>
            <a:endParaRPr lang="en-US" sz="1400" dirty="0"/>
          </a:p>
        </p:txBody>
      </p:sp>
      <p:sp>
        <p:nvSpPr>
          <p:cNvPr id="7" name="Shape 5"/>
          <p:cNvSpPr/>
          <p:nvPr/>
        </p:nvSpPr>
        <p:spPr>
          <a:xfrm>
            <a:off x="4402226" y="2788920"/>
            <a:ext cx="3387242" cy="1600200"/>
          </a:xfrm>
          <a:prstGeom prst="roundRect">
            <a:avLst>
              <a:gd name="adj" fmla="val 4571"/>
            </a:avLst>
          </a:prstGeom>
          <a:solidFill>
            <a:srgbClr val="6E4125"/>
          </a:solidFill>
          <a:ln/>
        </p:spPr>
      </p:sp>
      <p:sp>
        <p:nvSpPr>
          <p:cNvPr id="8" name="Text 6"/>
          <p:cNvSpPr txBox="1"/>
          <p:nvPr/>
        </p:nvSpPr>
        <p:spPr>
          <a:xfrm>
            <a:off x="4658258" y="2971800"/>
            <a:ext cx="2930042" cy="365760"/>
          </a:xfrm>
          <a:prstGeom prst="rect">
            <a:avLst/>
          </a:prstGeom>
          <a:noFill/>
          <a:ln/>
        </p:spPr>
        <p:txBody>
          <a:bodyPr wrap="square" lIns="0" tIns="0" rIns="0" bIns="0" rtlCol="0" anchor="ctr"/>
          <a:lstStyle/>
          <a:p>
            <a:pPr indent="0" marL="0">
              <a:buNone/>
            </a:pPr>
            <a:r>
              <a:rPr lang="en-US" sz="1600" b="1" dirty="0">
                <a:solidFill>
                  <a:srgbClr val="EBC79E"/>
                </a:solidFill>
                <a:latin typeface="Arial" pitchFamily="34" charset="0"/>
                <a:ea typeface="Arial" pitchFamily="34" charset="-122"/>
                <a:cs typeface="Arial" pitchFamily="34" charset="-120"/>
              </a:rPr>
              <a:t>Chiffre d'affaires</a:t>
            </a:r>
            <a:endParaRPr lang="en-US" sz="1600" dirty="0"/>
          </a:p>
        </p:txBody>
      </p:sp>
      <p:sp>
        <p:nvSpPr>
          <p:cNvPr id="9" name="Text 7"/>
          <p:cNvSpPr txBox="1"/>
          <p:nvPr/>
        </p:nvSpPr>
        <p:spPr>
          <a:xfrm>
            <a:off x="4658258" y="3383280"/>
            <a:ext cx="2930042" cy="914400"/>
          </a:xfrm>
          <a:prstGeom prst="rect">
            <a:avLst/>
          </a:prstGeom>
          <a:noFill/>
          <a:ln/>
        </p:spPr>
        <p:txBody>
          <a:bodyPr wrap="square" lIns="0" tIns="0" rIns="0" bIns="0" rtlCol="0" anchor="t"/>
          <a:lstStyle/>
          <a:p>
            <a:pPr indent="0" marL="0">
              <a:buNone/>
            </a:pPr>
            <a:r>
              <a:rPr lang="en-US" sz="1400" dirty="0">
                <a:solidFill>
                  <a:srgbClr val="F6F3EC"/>
                </a:solidFill>
                <a:latin typeface="Arial" pitchFamily="34" charset="0"/>
                <a:ea typeface="Arial" pitchFamily="34" charset="-122"/>
                <a:cs typeface="Arial" pitchFamily="34" charset="-120"/>
              </a:rPr>
              <a:t>Production × 0,55 USD/kg, un prix unique de 2019 à 2025</a:t>
            </a:r>
            <a:endParaRPr lang="en-US" sz="1400" dirty="0"/>
          </a:p>
        </p:txBody>
      </p:sp>
      <p:sp>
        <p:nvSpPr>
          <p:cNvPr id="10" name="Shape 8"/>
          <p:cNvSpPr/>
          <p:nvPr/>
        </p:nvSpPr>
        <p:spPr>
          <a:xfrm>
            <a:off x="7990637" y="2788920"/>
            <a:ext cx="3387242" cy="1600200"/>
          </a:xfrm>
          <a:prstGeom prst="roundRect">
            <a:avLst>
              <a:gd name="adj" fmla="val 4571"/>
            </a:avLst>
          </a:prstGeom>
          <a:solidFill>
            <a:srgbClr val="6E4125"/>
          </a:solidFill>
          <a:ln/>
        </p:spPr>
      </p:sp>
      <p:sp>
        <p:nvSpPr>
          <p:cNvPr id="11" name="Text 9"/>
          <p:cNvSpPr txBox="1"/>
          <p:nvPr/>
        </p:nvSpPr>
        <p:spPr>
          <a:xfrm>
            <a:off x="8246669" y="2971800"/>
            <a:ext cx="2930042" cy="365760"/>
          </a:xfrm>
          <a:prstGeom prst="rect">
            <a:avLst/>
          </a:prstGeom>
          <a:noFill/>
          <a:ln/>
        </p:spPr>
        <p:txBody>
          <a:bodyPr wrap="square" lIns="0" tIns="0" rIns="0" bIns="0" rtlCol="0" anchor="ctr"/>
          <a:lstStyle/>
          <a:p>
            <a:pPr indent="0" marL="0">
              <a:buNone/>
            </a:pPr>
            <a:r>
              <a:rPr lang="en-US" sz="1600" b="1" dirty="0">
                <a:solidFill>
                  <a:srgbClr val="EBC79E"/>
                </a:solidFill>
                <a:latin typeface="Arial" pitchFamily="34" charset="0"/>
                <a:ea typeface="Arial" pitchFamily="34" charset="-122"/>
                <a:cs typeface="Arial" pitchFamily="34" charset="-120"/>
              </a:rPr>
              <a:t>Coût et marge</a:t>
            </a:r>
            <a:endParaRPr lang="en-US" sz="1600" dirty="0"/>
          </a:p>
        </p:txBody>
      </p:sp>
      <p:sp>
        <p:nvSpPr>
          <p:cNvPr id="12" name="Text 10"/>
          <p:cNvSpPr txBox="1"/>
          <p:nvPr/>
        </p:nvSpPr>
        <p:spPr>
          <a:xfrm>
            <a:off x="8246669" y="3383280"/>
            <a:ext cx="2930042" cy="914400"/>
          </a:xfrm>
          <a:prstGeom prst="rect">
            <a:avLst/>
          </a:prstGeom>
          <a:noFill/>
          <a:ln/>
        </p:spPr>
        <p:txBody>
          <a:bodyPr wrap="square" lIns="0" tIns="0" rIns="0" bIns="0" rtlCol="0" anchor="t"/>
          <a:lstStyle/>
          <a:p>
            <a:pPr indent="0" marL="0">
              <a:buNone/>
            </a:pPr>
            <a:r>
              <a:rPr lang="en-US" sz="1400" dirty="0">
                <a:solidFill>
                  <a:srgbClr val="F6F3EC"/>
                </a:solidFill>
                <a:latin typeface="Arial" pitchFamily="34" charset="0"/>
                <a:ea typeface="Arial" pitchFamily="34" charset="-122"/>
                <a:cs typeface="Arial" pitchFamily="34" charset="-120"/>
              </a:rPr>
              <a:t>Coût = 40 % du CA et marge = 60 % du CA, pour 100 % des lignes</a:t>
            </a:r>
            <a:endParaRPr lang="en-US" sz="1400" dirty="0"/>
          </a:p>
        </p:txBody>
      </p:sp>
      <p:sp>
        <p:nvSpPr>
          <p:cNvPr id="13" name="Text 11"/>
          <p:cNvSpPr txBox="1"/>
          <p:nvPr/>
        </p:nvSpPr>
        <p:spPr>
          <a:xfrm>
            <a:off x="813816" y="4754880"/>
            <a:ext cx="10149840" cy="822960"/>
          </a:xfrm>
          <a:prstGeom prst="rect">
            <a:avLst/>
          </a:prstGeom>
          <a:noFill/>
          <a:ln/>
        </p:spPr>
        <p:txBody>
          <a:bodyPr wrap="square" lIns="0" tIns="0" rIns="0" bIns="0" rtlCol="0" anchor="t"/>
          <a:lstStyle/>
          <a:p>
            <a:pPr indent="0" marL="0">
              <a:buNone/>
            </a:pPr>
            <a:r>
              <a:rPr lang="en-US" sz="1600" dirty="0">
                <a:solidFill>
                  <a:srgbClr val="F6F3EC"/>
                </a:solidFill>
                <a:latin typeface="Arial" pitchFamily="34" charset="0"/>
                <a:ea typeface="Arial" pitchFamily="34" charset="-122"/>
                <a:cs typeface="Arial" pitchFamily="34" charset="-120"/>
              </a:rPr>
              <a:t>Le CA estimé passe de 1,8 à 14,5 millions USD, mais la superficie moyenne ne bouge pas. </a:t>
            </a:r>
            <a:pPr indent="0" marL="0">
              <a:buNone/>
            </a:pPr>
            <a:r>
              <a:rPr lang="en-US" sz="1600" b="1" dirty="0">
                <a:solidFill>
                  <a:srgbClr val="F6F3EC"/>
                </a:solidFill>
                <a:latin typeface="Arial" pitchFamily="34" charset="0"/>
                <a:ea typeface="Arial" pitchFamily="34" charset="-122"/>
                <a:cs typeface="Arial" pitchFamily="34" charset="-120"/>
              </a:rPr>
              <a:t>Pour mesurer l'impact : enregistrer kilos livrés et prix payé par producteur.</a:t>
            </a:r>
            <a:endParaRPr lang="en-US" sz="1600" dirty="0"/>
          </a:p>
        </p:txBody>
      </p:sp>
      <p:sp>
        <p:nvSpPr>
          <p:cNvPr id="14" name="Text 12"/>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EBC79E"/>
                </a:solidFill>
                <a:latin typeface="Arial" pitchFamily="34" charset="0"/>
                <a:ea typeface="Arial" pitchFamily="34" charset="-122"/>
                <a:cs typeface="Arial" pitchFamily="34" charset="-120"/>
              </a:rPr>
              <a:t>Formules reconstituées sur les 42 433 lignes de la base café</a:t>
            </a:r>
            <a:endParaRPr lang="en-US" sz="1100" dirty="0"/>
          </a:p>
        </p:txBody>
      </p:sp>
      <p:sp>
        <p:nvSpPr>
          <p:cNvPr id="15" name="Text 13"/>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EBC79E"/>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EE"/>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2E6B55"/>
                </a:solidFill>
                <a:latin typeface="Arial" pitchFamily="34" charset="0"/>
                <a:ea typeface="Arial" pitchFamily="34" charset="-122"/>
                <a:cs typeface="Arial" pitchFamily="34" charset="-120"/>
              </a:rPr>
              <a:t>CACAO · REVENU VITAL</a:t>
            </a:r>
            <a:endParaRPr lang="en-US" sz="1200" dirty="0"/>
          </a:p>
        </p:txBody>
      </p:sp>
      <p:sp>
        <p:nvSpPr>
          <p:cNvPr id="3" name="Text 1"/>
          <p:cNvSpPr txBox="1"/>
          <p:nvPr/>
        </p:nvSpPr>
        <p:spPr>
          <a:xfrm>
            <a:off x="813816" y="960120"/>
            <a:ext cx="9875520" cy="109728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59 % au-dessus du seuil de référence, 40 % une fois la taille des ménages prise en compte</a:t>
            </a:r>
            <a:endParaRPr lang="en-US" sz="3200" dirty="0"/>
          </a:p>
        </p:txBody>
      </p:sp>
      <p:graphicFrame>
        <p:nvGraphicFramePr>
          <p:cNvPr id="4" name="Chart 0" descr=""/>
          <p:cNvGraphicFramePr/>
          <p:nvPr/>
        </p:nvGraphicFramePr>
        <p:xfrm>
          <a:off x="813816" y="2103120"/>
          <a:ext cx="777240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915400" y="2926080"/>
            <a:ext cx="2468880" cy="2468880"/>
          </a:xfrm>
          <a:prstGeom prst="roundRect">
            <a:avLst>
              <a:gd name="adj" fmla="val 2963"/>
            </a:avLst>
          </a:prstGeom>
          <a:solidFill>
            <a:srgbClr val="FFFDF8"/>
          </a:solidFill>
          <a:ln w="9525">
            <a:solidFill>
              <a:srgbClr val="D5DED8"/>
            </a:solidFill>
            <a:prstDash val="solid"/>
          </a:ln>
        </p:spPr>
      </p:sp>
      <p:sp>
        <p:nvSpPr>
          <p:cNvPr id="6" name="Text 3"/>
          <p:cNvSpPr txBox="1"/>
          <p:nvPr/>
        </p:nvSpPr>
        <p:spPr>
          <a:xfrm>
            <a:off x="9125712" y="3108960"/>
            <a:ext cx="2103120" cy="365760"/>
          </a:xfrm>
          <a:prstGeom prst="rect">
            <a:avLst/>
          </a:prstGeom>
          <a:noFill/>
          <a:ln/>
        </p:spPr>
        <p:txBody>
          <a:bodyPr wrap="square" lIns="0" tIns="0" rIns="0" bIns="0" rtlCol="0" anchor="ctr"/>
          <a:lstStyle/>
          <a:p>
            <a:pPr indent="0" marL="0">
              <a:buNone/>
            </a:pPr>
            <a:r>
              <a:rPr lang="en-US" sz="1600" b="1" dirty="0">
                <a:solidFill>
                  <a:srgbClr val="2E6B55"/>
                </a:solidFill>
                <a:latin typeface="Arial" pitchFamily="34" charset="0"/>
                <a:ea typeface="Arial" pitchFamily="34" charset="-122"/>
                <a:cs typeface="Arial" pitchFamily="34" charset="-120"/>
              </a:rPr>
              <a:t>Pourquoi Mayuano ?</a:t>
            </a:r>
            <a:endParaRPr lang="en-US" sz="1600" dirty="0"/>
          </a:p>
        </p:txBody>
      </p:sp>
      <p:sp>
        <p:nvSpPr>
          <p:cNvPr id="7" name="Text 4"/>
          <p:cNvSpPr txBox="1"/>
          <p:nvPr/>
        </p:nvSpPr>
        <p:spPr>
          <a:xfrm>
            <a:off x="9125712" y="3520440"/>
            <a:ext cx="2103120" cy="1783080"/>
          </a:xfrm>
          <a:prstGeom prst="rect">
            <a:avLst/>
          </a:prstGeom>
          <a:noFill/>
          <a:ln/>
        </p:spPr>
        <p:txBody>
          <a:bodyPr wrap="square" lIns="0" tIns="0" rIns="0" bIns="0" rtlCol="0" anchor="t"/>
          <a:lstStyle/>
          <a:p>
            <a:pPr indent="0" marL="0">
              <a:buNone/>
            </a:pPr>
            <a:r>
              <a:rPr lang="en-US" sz="1300" dirty="0">
                <a:solidFill>
                  <a:srgbClr val="4A514C"/>
                </a:solidFill>
                <a:latin typeface="Arial" pitchFamily="34" charset="0"/>
                <a:ea typeface="Arial" pitchFamily="34" charset="-122"/>
                <a:cs typeface="Arial" pitchFamily="34" charset="-120"/>
              </a:rPr>
              <a:t>Rendement de 875 kg/ha, deux fois les autres sections, et ménages plus petits (7,8 personnes), malgré un prix moitié moindre.</a:t>
            </a:r>
            <a:endParaRPr lang="en-US" sz="1300" dirty="0"/>
          </a:p>
        </p:txBody>
      </p:sp>
      <p:sp>
        <p:nvSpPr>
          <p:cNvPr id="8" name="Text 5"/>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Part des ménages au-dessus du seuil · enquête Living Income, mars 2024 (88 ménages) · Anker 2025 : 2 628 USD/an</a:t>
            </a:r>
            <a:endParaRPr lang="en-US" sz="1100" dirty="0"/>
          </a:p>
        </p:txBody>
      </p:sp>
      <p:sp>
        <p:nvSpPr>
          <p:cNvPr id="9" name="Text 6"/>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EE"/>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2E6B55"/>
                </a:solidFill>
                <a:latin typeface="Arial" pitchFamily="34" charset="0"/>
                <a:ea typeface="Arial" pitchFamily="34" charset="-122"/>
                <a:cs typeface="Arial" pitchFamily="34" charset="-120"/>
              </a:rPr>
              <a:t>CACAO · VULNÉRABILITÉ</a:t>
            </a:r>
            <a:endParaRPr lang="en-US" sz="1200" dirty="0"/>
          </a:p>
        </p:txBody>
      </p:sp>
      <p:sp>
        <p:nvSpPr>
          <p:cNvPr id="3" name="Text 1"/>
          <p:cNvSpPr txBox="1"/>
          <p:nvPr/>
        </p:nvSpPr>
        <p:spPr>
          <a:xfrm>
            <a:off x="813816" y="960120"/>
            <a:ext cx="9875520" cy="109728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Des ménages grands, pauvres par personne et très dépendants du cacao</a:t>
            </a:r>
            <a:endParaRPr lang="en-US" sz="3200" dirty="0"/>
          </a:p>
        </p:txBody>
      </p:sp>
      <p:sp>
        <p:nvSpPr>
          <p:cNvPr id="4" name="Shape 2"/>
          <p:cNvSpPr/>
          <p:nvPr/>
        </p:nvSpPr>
        <p:spPr>
          <a:xfrm>
            <a:off x="813816" y="2194560"/>
            <a:ext cx="5181448" cy="1298448"/>
          </a:xfrm>
          <a:prstGeom prst="roundRect">
            <a:avLst>
              <a:gd name="adj" fmla="val 5634"/>
            </a:avLst>
          </a:prstGeom>
          <a:solidFill>
            <a:srgbClr val="FFFDF8"/>
          </a:solidFill>
          <a:ln w="9525">
            <a:solidFill>
              <a:srgbClr val="D5DED8"/>
            </a:solidFill>
            <a:prstDash val="solid"/>
          </a:ln>
        </p:spPr>
      </p:sp>
      <p:sp>
        <p:nvSpPr>
          <p:cNvPr id="5" name="Text 3"/>
          <p:cNvSpPr txBox="1"/>
          <p:nvPr/>
        </p:nvSpPr>
        <p:spPr>
          <a:xfrm>
            <a:off x="1069848" y="2194560"/>
            <a:ext cx="1737360" cy="1298448"/>
          </a:xfrm>
          <a:prstGeom prst="rect">
            <a:avLst/>
          </a:prstGeom>
          <a:noFill/>
          <a:ln/>
        </p:spPr>
        <p:txBody>
          <a:bodyPr wrap="square" lIns="0" tIns="0" rIns="0" bIns="0" rtlCol="0" anchor="ctr"/>
          <a:lstStyle/>
          <a:p>
            <a:pPr indent="0" marL="0">
              <a:buNone/>
            </a:pPr>
            <a:r>
              <a:rPr lang="en-US" sz="4000" b="1" dirty="0">
                <a:solidFill>
                  <a:srgbClr val="A83A32"/>
                </a:solidFill>
                <a:latin typeface="Cambria" pitchFamily="34" charset="0"/>
                <a:ea typeface="Cambria" pitchFamily="34" charset="-122"/>
                <a:cs typeface="Cambria" pitchFamily="34" charset="-120"/>
              </a:rPr>
              <a:t>80 %</a:t>
            </a:r>
            <a:endParaRPr lang="en-US" sz="4000" dirty="0"/>
          </a:p>
        </p:txBody>
      </p:sp>
      <p:sp>
        <p:nvSpPr>
          <p:cNvPr id="6" name="Text 4"/>
          <p:cNvSpPr txBox="1"/>
          <p:nvPr/>
        </p:nvSpPr>
        <p:spPr>
          <a:xfrm>
            <a:off x="2871216" y="2194560"/>
            <a:ext cx="2895448" cy="1298448"/>
          </a:xfrm>
          <a:prstGeom prst="rect">
            <a:avLst/>
          </a:prstGeom>
          <a:noFill/>
          <a:ln/>
        </p:spPr>
        <p:txBody>
          <a:bodyPr wrap="square" lIns="0" tIns="0" rIns="0" bIns="0" rtlCol="0" anchor="ctr"/>
          <a:lstStyle/>
          <a:p>
            <a:pPr indent="0" marL="0">
              <a:buNone/>
            </a:pPr>
            <a:r>
              <a:rPr lang="en-US" sz="1400" dirty="0">
                <a:solidFill>
                  <a:srgbClr val="4A514C"/>
                </a:solidFill>
                <a:latin typeface="Arial" pitchFamily="34" charset="0"/>
                <a:ea typeface="Arial" pitchFamily="34" charset="-122"/>
                <a:cs typeface="Arial" pitchFamily="34" charset="-120"/>
              </a:rPr>
              <a:t>des ménages vivent avec moins de 2,15 USD par personne et par jour (médiane 0,97 USD)</a:t>
            </a:r>
            <a:endParaRPr lang="en-US" sz="1400" dirty="0"/>
          </a:p>
        </p:txBody>
      </p:sp>
      <p:sp>
        <p:nvSpPr>
          <p:cNvPr id="7" name="Shape 5"/>
          <p:cNvSpPr/>
          <p:nvPr/>
        </p:nvSpPr>
        <p:spPr>
          <a:xfrm>
            <a:off x="6196432" y="2194560"/>
            <a:ext cx="5181448" cy="1298448"/>
          </a:xfrm>
          <a:prstGeom prst="roundRect">
            <a:avLst>
              <a:gd name="adj" fmla="val 5634"/>
            </a:avLst>
          </a:prstGeom>
          <a:solidFill>
            <a:srgbClr val="FFFDF8"/>
          </a:solidFill>
          <a:ln w="9525">
            <a:solidFill>
              <a:srgbClr val="D5DED8"/>
            </a:solidFill>
            <a:prstDash val="solid"/>
          </a:ln>
        </p:spPr>
      </p:sp>
      <p:sp>
        <p:nvSpPr>
          <p:cNvPr id="8" name="Text 6"/>
          <p:cNvSpPr txBox="1"/>
          <p:nvPr/>
        </p:nvSpPr>
        <p:spPr>
          <a:xfrm>
            <a:off x="6452464" y="2194560"/>
            <a:ext cx="1737360" cy="1298448"/>
          </a:xfrm>
          <a:prstGeom prst="rect">
            <a:avLst/>
          </a:prstGeom>
          <a:noFill/>
          <a:ln/>
        </p:spPr>
        <p:txBody>
          <a:bodyPr wrap="square" lIns="0" tIns="0" rIns="0" bIns="0" rtlCol="0" anchor="ctr"/>
          <a:lstStyle/>
          <a:p>
            <a:pPr indent="0" marL="0">
              <a:buNone/>
            </a:pPr>
            <a:r>
              <a:rPr lang="en-US" sz="4000" b="1" dirty="0">
                <a:solidFill>
                  <a:srgbClr val="2E6B55"/>
                </a:solidFill>
                <a:latin typeface="Cambria" pitchFamily="34" charset="0"/>
                <a:ea typeface="Cambria" pitchFamily="34" charset="-122"/>
                <a:cs typeface="Cambria" pitchFamily="34" charset="-120"/>
              </a:rPr>
              <a:t>87 %</a:t>
            </a:r>
            <a:endParaRPr lang="en-US" sz="4000" dirty="0"/>
          </a:p>
        </p:txBody>
      </p:sp>
      <p:sp>
        <p:nvSpPr>
          <p:cNvPr id="9" name="Text 7"/>
          <p:cNvSpPr txBox="1"/>
          <p:nvPr/>
        </p:nvSpPr>
        <p:spPr>
          <a:xfrm>
            <a:off x="8253832" y="2194560"/>
            <a:ext cx="2895448" cy="1298448"/>
          </a:xfrm>
          <a:prstGeom prst="rect">
            <a:avLst/>
          </a:prstGeom>
          <a:noFill/>
          <a:ln/>
        </p:spPr>
        <p:txBody>
          <a:bodyPr wrap="square" lIns="0" tIns="0" rIns="0" bIns="0" rtlCol="0" anchor="ctr"/>
          <a:lstStyle/>
          <a:p>
            <a:pPr indent="0" marL="0">
              <a:buNone/>
            </a:pPr>
            <a:r>
              <a:rPr lang="en-US" sz="1400" dirty="0">
                <a:solidFill>
                  <a:srgbClr val="4A514C"/>
                </a:solidFill>
                <a:latin typeface="Arial" pitchFamily="34" charset="0"/>
                <a:ea typeface="Arial" pitchFamily="34" charset="-122"/>
                <a:cs typeface="Arial" pitchFamily="34" charset="-120"/>
              </a:rPr>
              <a:t>du revenu net vient du cacao : une baisse du prix mondial toucherait presque tout le revenu</a:t>
            </a:r>
            <a:endParaRPr lang="en-US" sz="1400" dirty="0"/>
          </a:p>
        </p:txBody>
      </p:sp>
      <p:sp>
        <p:nvSpPr>
          <p:cNvPr id="10" name="Shape 8"/>
          <p:cNvSpPr/>
          <p:nvPr/>
        </p:nvSpPr>
        <p:spPr>
          <a:xfrm>
            <a:off x="813816" y="3675888"/>
            <a:ext cx="5181448" cy="1298448"/>
          </a:xfrm>
          <a:prstGeom prst="roundRect">
            <a:avLst>
              <a:gd name="adj" fmla="val 5634"/>
            </a:avLst>
          </a:prstGeom>
          <a:solidFill>
            <a:srgbClr val="FFFDF8"/>
          </a:solidFill>
          <a:ln w="9525">
            <a:solidFill>
              <a:srgbClr val="D5DED8"/>
            </a:solidFill>
            <a:prstDash val="solid"/>
          </a:ln>
        </p:spPr>
      </p:sp>
      <p:sp>
        <p:nvSpPr>
          <p:cNvPr id="11" name="Text 9"/>
          <p:cNvSpPr txBox="1"/>
          <p:nvPr/>
        </p:nvSpPr>
        <p:spPr>
          <a:xfrm>
            <a:off x="1069848" y="3675888"/>
            <a:ext cx="1737360" cy="1298448"/>
          </a:xfrm>
          <a:prstGeom prst="rect">
            <a:avLst/>
          </a:prstGeom>
          <a:noFill/>
          <a:ln/>
        </p:spPr>
        <p:txBody>
          <a:bodyPr wrap="square" lIns="0" tIns="0" rIns="0" bIns="0" rtlCol="0" anchor="ctr"/>
          <a:lstStyle/>
          <a:p>
            <a:pPr indent="0" marL="0">
              <a:buNone/>
            </a:pPr>
            <a:r>
              <a:rPr lang="en-US" sz="4000" b="1" dirty="0">
                <a:solidFill>
                  <a:srgbClr val="1E2A26"/>
                </a:solidFill>
                <a:latin typeface="Cambria" pitchFamily="34" charset="0"/>
                <a:ea typeface="Cambria" pitchFamily="34" charset="-122"/>
                <a:cs typeface="Cambria" pitchFamily="34" charset="-120"/>
              </a:rPr>
              <a:t>10,3</a:t>
            </a:r>
            <a:endParaRPr lang="en-US" sz="4000" dirty="0"/>
          </a:p>
        </p:txBody>
      </p:sp>
      <p:sp>
        <p:nvSpPr>
          <p:cNvPr id="12" name="Text 10"/>
          <p:cNvSpPr txBox="1"/>
          <p:nvPr/>
        </p:nvSpPr>
        <p:spPr>
          <a:xfrm>
            <a:off x="2871216" y="3675888"/>
            <a:ext cx="2895448" cy="1298448"/>
          </a:xfrm>
          <a:prstGeom prst="rect">
            <a:avLst/>
          </a:prstGeom>
          <a:noFill/>
          <a:ln/>
        </p:spPr>
        <p:txBody>
          <a:bodyPr wrap="square" lIns="0" tIns="0" rIns="0" bIns="0" rtlCol="0" anchor="ctr"/>
          <a:lstStyle/>
          <a:p>
            <a:pPr indent="0" marL="0">
              <a:buNone/>
            </a:pPr>
            <a:r>
              <a:rPr lang="en-US" sz="1400" dirty="0">
                <a:solidFill>
                  <a:srgbClr val="4A514C"/>
                </a:solidFill>
                <a:latin typeface="Arial" pitchFamily="34" charset="0"/>
                <a:ea typeface="Arial" pitchFamily="34" charset="-122"/>
                <a:cs typeface="Arial" pitchFamily="34" charset="-120"/>
              </a:rPr>
              <a:t>personnes par ménage en moyenne, contre 6 dans le ménage de référence Anker</a:t>
            </a:r>
            <a:endParaRPr lang="en-US" sz="1400" dirty="0"/>
          </a:p>
        </p:txBody>
      </p:sp>
      <p:sp>
        <p:nvSpPr>
          <p:cNvPr id="13" name="Shape 11"/>
          <p:cNvSpPr/>
          <p:nvPr/>
        </p:nvSpPr>
        <p:spPr>
          <a:xfrm>
            <a:off x="6196432" y="3675888"/>
            <a:ext cx="5181448" cy="1298448"/>
          </a:xfrm>
          <a:prstGeom prst="roundRect">
            <a:avLst>
              <a:gd name="adj" fmla="val 5634"/>
            </a:avLst>
          </a:prstGeom>
          <a:solidFill>
            <a:srgbClr val="FFFDF8"/>
          </a:solidFill>
          <a:ln w="9525">
            <a:solidFill>
              <a:srgbClr val="D5DED8"/>
            </a:solidFill>
            <a:prstDash val="solid"/>
          </a:ln>
        </p:spPr>
      </p:sp>
      <p:sp>
        <p:nvSpPr>
          <p:cNvPr id="14" name="Text 12"/>
          <p:cNvSpPr txBox="1"/>
          <p:nvPr/>
        </p:nvSpPr>
        <p:spPr>
          <a:xfrm>
            <a:off x="6452464" y="3675888"/>
            <a:ext cx="1737360" cy="1298448"/>
          </a:xfrm>
          <a:prstGeom prst="rect">
            <a:avLst/>
          </a:prstGeom>
          <a:noFill/>
          <a:ln/>
        </p:spPr>
        <p:txBody>
          <a:bodyPr wrap="square" lIns="0" tIns="0" rIns="0" bIns="0" rtlCol="0" anchor="ctr"/>
          <a:lstStyle/>
          <a:p>
            <a:pPr indent="0" marL="0">
              <a:buNone/>
            </a:pPr>
            <a:r>
              <a:rPr lang="en-US" sz="4000" b="1" dirty="0">
                <a:solidFill>
                  <a:srgbClr val="1E2A26"/>
                </a:solidFill>
                <a:latin typeface="Cambria" pitchFamily="34" charset="0"/>
                <a:ea typeface="Cambria" pitchFamily="34" charset="-122"/>
                <a:cs typeface="Cambria" pitchFamily="34" charset="-120"/>
              </a:rPr>
              <a:t>2 225</a:t>
            </a:r>
            <a:endParaRPr lang="en-US" sz="4000" dirty="0"/>
          </a:p>
        </p:txBody>
      </p:sp>
      <p:sp>
        <p:nvSpPr>
          <p:cNvPr id="15" name="Text 13"/>
          <p:cNvSpPr txBox="1"/>
          <p:nvPr/>
        </p:nvSpPr>
        <p:spPr>
          <a:xfrm>
            <a:off x="8253832" y="3675888"/>
            <a:ext cx="2895448" cy="1298448"/>
          </a:xfrm>
          <a:prstGeom prst="rect">
            <a:avLst/>
          </a:prstGeom>
          <a:noFill/>
          <a:ln/>
        </p:spPr>
        <p:txBody>
          <a:bodyPr wrap="square" lIns="0" tIns="0" rIns="0" bIns="0" rtlCol="0" anchor="ctr"/>
          <a:lstStyle/>
          <a:p>
            <a:pPr indent="0" marL="0">
              <a:buNone/>
            </a:pPr>
            <a:r>
              <a:rPr lang="en-US" sz="1400" dirty="0">
                <a:solidFill>
                  <a:srgbClr val="4A514C"/>
                </a:solidFill>
                <a:latin typeface="Arial" pitchFamily="34" charset="0"/>
                <a:ea typeface="Arial" pitchFamily="34" charset="-122"/>
                <a:cs typeface="Arial" pitchFamily="34" charset="-120"/>
              </a:rPr>
              <a:t>USD par an manquent au ménage médian sous le seuil ajusté</a:t>
            </a:r>
            <a:endParaRPr lang="en-US" sz="1400" dirty="0"/>
          </a:p>
        </p:txBody>
      </p:sp>
      <p:sp>
        <p:nvSpPr>
          <p:cNvPr id="16" name="Text 14"/>
          <p:cNvSpPr txBox="1"/>
          <p:nvPr/>
        </p:nvSpPr>
        <p:spPr>
          <a:xfrm>
            <a:off x="813816" y="5257800"/>
            <a:ext cx="10424160" cy="548640"/>
          </a:xfrm>
          <a:prstGeom prst="rect">
            <a:avLst/>
          </a:prstGeom>
          <a:noFill/>
          <a:ln/>
        </p:spPr>
        <p:txBody>
          <a:bodyPr wrap="square" lIns="0" tIns="0" rIns="0" bIns="0" rtlCol="0" anchor="t"/>
          <a:lstStyle/>
          <a:p>
            <a:pPr indent="0" marL="0">
              <a:buNone/>
            </a:pPr>
            <a:r>
              <a:rPr lang="en-US" sz="1400" b="1" dirty="0">
                <a:solidFill>
                  <a:srgbClr val="4A514C"/>
                </a:solidFill>
                <a:latin typeface="Arial" pitchFamily="34" charset="0"/>
                <a:ea typeface="Arial" pitchFamily="34" charset="-122"/>
                <a:cs typeface="Arial" pitchFamily="34" charset="-120"/>
              </a:rPr>
              <a:t>Leviers : </a:t>
            </a:r>
            <a:pPr indent="0" marL="0">
              <a:buNone/>
            </a:pPr>
            <a:r>
              <a:rPr lang="en-US" sz="1400" dirty="0">
                <a:solidFill>
                  <a:srgbClr val="4A514C"/>
                </a:solidFill>
                <a:latin typeface="Arial" pitchFamily="34" charset="0"/>
                <a:ea typeface="Arial" pitchFamily="34" charset="-122"/>
                <a:cs typeface="Arial" pitchFamily="34" charset="-120"/>
              </a:rPr>
              <a:t>rendement (38 % des superficies non productives), diversification (13 % du revenu hors cacao) et qualité, qui fait le prix.</a:t>
            </a:r>
            <a:endParaRPr lang="en-US" sz="1400" dirty="0"/>
          </a:p>
        </p:txBody>
      </p:sp>
      <p:sp>
        <p:nvSpPr>
          <p:cNvPr id="17" name="Text 15"/>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Enquête Living Income Cacao Okapi, mars 2024 · 88 ménages dont 6 femmes : résultats indicatifs</a:t>
            </a:r>
            <a:endParaRPr lang="en-US" sz="1100" dirty="0"/>
          </a:p>
        </p:txBody>
      </p:sp>
      <p:sp>
        <p:nvSpPr>
          <p:cNvPr id="18" name="Text 16"/>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A83A32"/>
                </a:solidFill>
                <a:latin typeface="Arial" pitchFamily="34" charset="0"/>
                <a:ea typeface="Arial" pitchFamily="34" charset="-122"/>
                <a:cs typeface="Arial" pitchFamily="34" charset="-120"/>
              </a:rPr>
              <a:t>QUALITÉ DES DONNÉES</a:t>
            </a:r>
            <a:endParaRPr lang="en-US" sz="1200" dirty="0"/>
          </a:p>
        </p:txBody>
      </p:sp>
      <p:sp>
        <p:nvSpPr>
          <p:cNvPr id="3" name="Text 1"/>
          <p:cNvSpPr txBox="1"/>
          <p:nvPr/>
        </p:nvSpPr>
        <p:spPr>
          <a:xfrm>
            <a:off x="813816" y="960120"/>
            <a:ext cx="10564063" cy="82296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Avis proposé pour le PV : validation partielle</a:t>
            </a:r>
            <a:endParaRPr lang="en-US" sz="3200" dirty="0"/>
          </a:p>
        </p:txBody>
      </p:sp>
      <p:sp>
        <p:nvSpPr>
          <p:cNvPr id="4" name="Text 2"/>
          <p:cNvSpPr txBox="1"/>
          <p:nvPr/>
        </p:nvSpPr>
        <p:spPr>
          <a:xfrm>
            <a:off x="813816" y="1920240"/>
            <a:ext cx="868680" cy="777240"/>
          </a:xfrm>
          <a:prstGeom prst="rect">
            <a:avLst/>
          </a:prstGeom>
          <a:noFill/>
          <a:ln/>
        </p:spPr>
        <p:txBody>
          <a:bodyPr wrap="square" lIns="0" tIns="0" rIns="0" bIns="0" rtlCol="0" anchor="ctr"/>
          <a:lstStyle/>
          <a:p>
            <a:pPr indent="0" marL="0">
              <a:buNone/>
            </a:pPr>
            <a:r>
              <a:rPr lang="en-US" sz="4400" b="1" dirty="0">
                <a:solidFill>
                  <a:srgbClr val="1E2A26"/>
                </a:solidFill>
                <a:latin typeface="Cambria" pitchFamily="34" charset="0"/>
                <a:ea typeface="Cambria" pitchFamily="34" charset="-122"/>
                <a:cs typeface="Cambria" pitchFamily="34" charset="-120"/>
              </a:rPr>
              <a:t>23</a:t>
            </a:r>
            <a:endParaRPr lang="en-US" sz="4400" dirty="0"/>
          </a:p>
        </p:txBody>
      </p:sp>
      <p:sp>
        <p:nvSpPr>
          <p:cNvPr id="5" name="Text 3"/>
          <p:cNvSpPr txBox="1"/>
          <p:nvPr/>
        </p:nvSpPr>
        <p:spPr>
          <a:xfrm>
            <a:off x="1728216" y="1920240"/>
            <a:ext cx="1828800" cy="777240"/>
          </a:xfrm>
          <a:prstGeom prst="rect">
            <a:avLst/>
          </a:prstGeom>
          <a:noFill/>
          <a:ln/>
        </p:spPr>
        <p:txBody>
          <a:bodyPr wrap="square" lIns="0" tIns="0" rIns="0" bIns="0" rtlCol="0" anchor="ctr"/>
          <a:lstStyle/>
          <a:p>
            <a:pPr indent="0" marL="0">
              <a:buNone/>
            </a:pPr>
            <a:r>
              <a:rPr lang="en-US" sz="1400" dirty="0">
                <a:solidFill>
                  <a:srgbClr val="4A514C"/>
                </a:solidFill>
                <a:latin typeface="Arial" pitchFamily="34" charset="0"/>
                <a:ea typeface="Arial" pitchFamily="34" charset="-122"/>
                <a:cs typeface="Arial" pitchFamily="34" charset="-120"/>
              </a:rPr>
              <a:t>contrôles réalisés</a:t>
            </a:r>
            <a:endParaRPr lang="en-US" sz="1400" dirty="0"/>
          </a:p>
        </p:txBody>
      </p:sp>
      <p:sp>
        <p:nvSpPr>
          <p:cNvPr id="6" name="Text 4"/>
          <p:cNvSpPr txBox="1"/>
          <p:nvPr/>
        </p:nvSpPr>
        <p:spPr>
          <a:xfrm>
            <a:off x="813816" y="2788920"/>
            <a:ext cx="868680" cy="777240"/>
          </a:xfrm>
          <a:prstGeom prst="rect">
            <a:avLst/>
          </a:prstGeom>
          <a:noFill/>
          <a:ln/>
        </p:spPr>
        <p:txBody>
          <a:bodyPr wrap="square" lIns="0" tIns="0" rIns="0" bIns="0" rtlCol="0" anchor="ctr"/>
          <a:lstStyle/>
          <a:p>
            <a:pPr indent="0" marL="0">
              <a:buNone/>
            </a:pPr>
            <a:r>
              <a:rPr lang="en-US" sz="4400" b="1" dirty="0">
                <a:solidFill>
                  <a:srgbClr val="A83A32"/>
                </a:solidFill>
                <a:latin typeface="Cambria" pitchFamily="34" charset="0"/>
                <a:ea typeface="Cambria" pitchFamily="34" charset="-122"/>
                <a:cs typeface="Cambria" pitchFamily="34" charset="-120"/>
              </a:rPr>
              <a:t>4</a:t>
            </a:r>
            <a:endParaRPr lang="en-US" sz="4400" dirty="0"/>
          </a:p>
        </p:txBody>
      </p:sp>
      <p:sp>
        <p:nvSpPr>
          <p:cNvPr id="7" name="Text 5"/>
          <p:cNvSpPr txBox="1"/>
          <p:nvPr/>
        </p:nvSpPr>
        <p:spPr>
          <a:xfrm>
            <a:off x="1728216" y="2788920"/>
            <a:ext cx="1828800" cy="777240"/>
          </a:xfrm>
          <a:prstGeom prst="rect">
            <a:avLst/>
          </a:prstGeom>
          <a:noFill/>
          <a:ln/>
        </p:spPr>
        <p:txBody>
          <a:bodyPr wrap="square" lIns="0" tIns="0" rIns="0" bIns="0" rtlCol="0" anchor="ctr"/>
          <a:lstStyle/>
          <a:p>
            <a:pPr indent="0" marL="0">
              <a:buNone/>
            </a:pPr>
            <a:r>
              <a:rPr lang="en-US" sz="1400" dirty="0">
                <a:solidFill>
                  <a:srgbClr val="4A514C"/>
                </a:solidFill>
                <a:latin typeface="Arial" pitchFamily="34" charset="0"/>
                <a:ea typeface="Arial" pitchFamily="34" charset="-122"/>
                <a:cs typeface="Arial" pitchFamily="34" charset="-120"/>
              </a:rPr>
              <a:t>critiques</a:t>
            </a:r>
            <a:endParaRPr lang="en-US" sz="1400" dirty="0"/>
          </a:p>
        </p:txBody>
      </p:sp>
      <p:sp>
        <p:nvSpPr>
          <p:cNvPr id="8" name="Text 6"/>
          <p:cNvSpPr txBox="1"/>
          <p:nvPr/>
        </p:nvSpPr>
        <p:spPr>
          <a:xfrm>
            <a:off x="813816" y="3657600"/>
            <a:ext cx="868680" cy="777240"/>
          </a:xfrm>
          <a:prstGeom prst="rect">
            <a:avLst/>
          </a:prstGeom>
          <a:noFill/>
          <a:ln/>
        </p:spPr>
        <p:txBody>
          <a:bodyPr wrap="square" lIns="0" tIns="0" rIns="0" bIns="0" rtlCol="0" anchor="ctr"/>
          <a:lstStyle/>
          <a:p>
            <a:pPr indent="0" marL="0">
              <a:buNone/>
            </a:pPr>
            <a:r>
              <a:rPr lang="en-US" sz="4400" b="1" dirty="0">
                <a:solidFill>
                  <a:srgbClr val="C77A32"/>
                </a:solidFill>
                <a:latin typeface="Cambria" pitchFamily="34" charset="0"/>
                <a:ea typeface="Cambria" pitchFamily="34" charset="-122"/>
                <a:cs typeface="Cambria" pitchFamily="34" charset="-120"/>
              </a:rPr>
              <a:t>7</a:t>
            </a:r>
            <a:endParaRPr lang="en-US" sz="4400" dirty="0"/>
          </a:p>
        </p:txBody>
      </p:sp>
      <p:sp>
        <p:nvSpPr>
          <p:cNvPr id="9" name="Text 7"/>
          <p:cNvSpPr txBox="1"/>
          <p:nvPr/>
        </p:nvSpPr>
        <p:spPr>
          <a:xfrm>
            <a:off x="1728216" y="3657600"/>
            <a:ext cx="1828800" cy="777240"/>
          </a:xfrm>
          <a:prstGeom prst="rect">
            <a:avLst/>
          </a:prstGeom>
          <a:noFill/>
          <a:ln/>
        </p:spPr>
        <p:txBody>
          <a:bodyPr wrap="square" lIns="0" tIns="0" rIns="0" bIns="0" rtlCol="0" anchor="ctr"/>
          <a:lstStyle/>
          <a:p>
            <a:pPr indent="0" marL="0">
              <a:buNone/>
            </a:pPr>
            <a:r>
              <a:rPr lang="en-US" sz="1400" dirty="0">
                <a:solidFill>
                  <a:srgbClr val="4A514C"/>
                </a:solidFill>
                <a:latin typeface="Arial" pitchFamily="34" charset="0"/>
                <a:ea typeface="Arial" pitchFamily="34" charset="-122"/>
                <a:cs typeface="Arial" pitchFamily="34" charset="-120"/>
              </a:rPr>
              <a:t>de gravité élevée</a:t>
            </a:r>
            <a:endParaRPr lang="en-US" sz="1400" dirty="0"/>
          </a:p>
        </p:txBody>
      </p:sp>
      <p:sp>
        <p:nvSpPr>
          <p:cNvPr id="10" name="Text 8"/>
          <p:cNvSpPr txBox="1"/>
          <p:nvPr/>
        </p:nvSpPr>
        <p:spPr>
          <a:xfrm>
            <a:off x="813816" y="4617720"/>
            <a:ext cx="2651760" cy="1005840"/>
          </a:xfrm>
          <a:prstGeom prst="rect">
            <a:avLst/>
          </a:prstGeom>
          <a:noFill/>
          <a:ln/>
        </p:spPr>
        <p:txBody>
          <a:bodyPr wrap="square" lIns="0" tIns="0" rIns="0" bIns="0" rtlCol="0" anchor="t"/>
          <a:lstStyle/>
          <a:p>
            <a:pPr indent="0" marL="0">
              <a:buNone/>
            </a:pPr>
            <a:r>
              <a:rPr lang="en-US" sz="1400" dirty="0">
                <a:solidFill>
                  <a:srgbClr val="4A514C"/>
                </a:solidFill>
                <a:latin typeface="Arial" pitchFamily="34" charset="0"/>
                <a:ea typeface="Arial" pitchFamily="34" charset="-122"/>
                <a:cs typeface="Arial" pitchFamily="34" charset="-120"/>
              </a:rPr>
              <a:t>Valider la base café pour les bénéficiaires, pas pour ses indicateurs économiques.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749040" y="1920240"/>
          <a:ext cx="7628839" cy="914400"/>
        </p:xfrm>
        <a:graphic>
          <a:graphicData uri="http://schemas.openxmlformats.org/drawingml/2006/table">
            <a:tbl>
              <a:tblPr/>
              <a:tblGrid>
                <a:gridCol w="1325880"/>
                <a:gridCol w="3474720"/>
                <a:gridCol w="2834640"/>
              </a:tblGrid>
              <a:tr h="457200">
                <a:tc>
                  <a:txBody>
                    <a:bodyPr/>
                    <a:lstStyle/>
                    <a:p>
                      <a:pPr indent="0" marL="0">
                        <a:buNone/>
                      </a:pPr>
                      <a:r>
                        <a:rPr lang="en-US" sz="1300" b="1" dirty="0">
                          <a:solidFill>
                            <a:srgbClr val="F6F3EC"/>
                          </a:solidFill>
                          <a:latin typeface="Arial" pitchFamily="34" charset="0"/>
                          <a:ea typeface="Arial" pitchFamily="34" charset="-122"/>
                          <a:cs typeface="Arial" pitchFamily="34" charset="-120"/>
                        </a:rPr>
                        <a:t>Gravité</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300" b="1" dirty="0">
                          <a:solidFill>
                            <a:srgbClr val="F6F3EC"/>
                          </a:solidFill>
                          <a:latin typeface="Arial" pitchFamily="34" charset="0"/>
                          <a:ea typeface="Arial" pitchFamily="34" charset="-122"/>
                          <a:cs typeface="Arial" pitchFamily="34" charset="-120"/>
                        </a:rPr>
                        <a:t>Anomalie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300" b="1" dirty="0">
                          <a:solidFill>
                            <a:srgbClr val="F6F3EC"/>
                          </a:solidFill>
                          <a:latin typeface="Arial" pitchFamily="34" charset="0"/>
                          <a:ea typeface="Arial" pitchFamily="34" charset="-122"/>
                          <a:cs typeface="Arial" pitchFamily="34" charset="-120"/>
                        </a:rPr>
                        <a:t>Action</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r>
              <a:tr h="457200">
                <a:tc>
                  <a:txBody>
                    <a:bodyPr/>
                    <a:lstStyle/>
                    <a:p>
                      <a:pPr indent="0" marL="0">
                        <a:buNone/>
                      </a:pPr>
                      <a:r>
                        <a:rPr lang="en-US" sz="1300" b="1" dirty="0">
                          <a:solidFill>
                            <a:srgbClr val="A83A32"/>
                          </a:solidFill>
                          <a:latin typeface="Arial" pitchFamily="34" charset="0"/>
                          <a:ea typeface="Arial" pitchFamily="34" charset="-122"/>
                          <a:cs typeface="Arial" pitchFamily="34" charset="-120"/>
                        </a:rPr>
                        <a:t>Critique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Production, CA, marge café calculés</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Collecter les ventes réelles</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457200">
                <a:tc>
                  <a:txBody>
                    <a:bodyPr/>
                    <a:lstStyle/>
                    <a:p>
                      <a:pPr indent="0" marL="0">
                        <a:buNone/>
                      </a:pPr>
                      <a:r>
                        <a:rPr lang="en-US" sz="1300" b="1" dirty="0">
                          <a:solidFill>
                            <a:srgbClr val="A83A32"/>
                          </a:solidFill>
                          <a:latin typeface="Arial" pitchFamily="34" charset="0"/>
                          <a:ea typeface="Arial" pitchFamily="34" charset="-122"/>
                          <a:cs typeface="Arial" pitchFamily="34" charset="-120"/>
                        </a:rPr>
                        <a:t>Critique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 living_income » = revenu − dépenses</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Renommer, utiliser le revenu net</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457200">
                <a:tc>
                  <a:txBody>
                    <a:bodyPr/>
                    <a:lstStyle/>
                    <a:p>
                      <a:pPr indent="0" marL="0">
                        <a:buNone/>
                      </a:pPr>
                      <a:r>
                        <a:rPr lang="en-US" sz="1300" b="1" dirty="0">
                          <a:solidFill>
                            <a:srgbClr val="9A5B2E"/>
                          </a:solidFill>
                          <a:latin typeface="Arial" pitchFamily="34" charset="0"/>
                          <a:ea typeface="Arial" pitchFamily="34" charset="-122"/>
                          <a:cs typeface="Arial" pitchFamily="34" charset="-120"/>
                        </a:rPr>
                        <a:t>Élevée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Territoire manquant (36 %)</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Compléter via village → territoire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457200">
                <a:tc>
                  <a:txBody>
                    <a:bodyPr/>
                    <a:lstStyle/>
                    <a:p>
                      <a:pPr indent="0" marL="0">
                        <a:buNone/>
                      </a:pPr>
                      <a:r>
                        <a:rPr lang="en-US" sz="1300" b="1" dirty="0">
                          <a:solidFill>
                            <a:srgbClr val="9A5B2E"/>
                          </a:solidFill>
                          <a:latin typeface="Arial" pitchFamily="34" charset="0"/>
                          <a:ea typeface="Arial" pitchFamily="34" charset="-122"/>
                          <a:cs typeface="Arial" pitchFamily="34" charset="-120"/>
                        </a:rPr>
                        <a:t>Élevée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Certification non renseignée (14 %)</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Reprendre les rapports d'audit</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457200">
                <a:tc>
                  <a:txBody>
                    <a:bodyPr/>
                    <a:lstStyle/>
                    <a:p>
                      <a:pPr indent="0" marL="0">
                        <a:buNone/>
                      </a:pPr>
                      <a:r>
                        <a:rPr lang="en-US" sz="1300" b="1" dirty="0">
                          <a:solidFill>
                            <a:srgbClr val="9A5B2E"/>
                          </a:solidFill>
                          <a:latin typeface="Arial" pitchFamily="34" charset="0"/>
                          <a:ea typeface="Arial" pitchFamily="34" charset="-122"/>
                          <a:cs typeface="Arial" pitchFamily="34" charset="-120"/>
                        </a:rPr>
                        <a:t>Élevée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2 099 lignes à carte partagée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Dédoublonner avec les OP</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457200">
                <a:tc>
                  <a:txBody>
                    <a:bodyPr/>
                    <a:lstStyle/>
                    <a:p>
                      <a:pPr indent="0" marL="0">
                        <a:buNone/>
                      </a:pPr>
                      <a:r>
                        <a:rPr lang="en-US" sz="1300" b="1" dirty="0">
                          <a:solidFill>
                            <a:srgbClr val="9A5B2E"/>
                          </a:solidFill>
                          <a:latin typeface="Arial" pitchFamily="34" charset="0"/>
                          <a:ea typeface="Arial" pitchFamily="34" charset="-122"/>
                          <a:cs typeface="Arial" pitchFamily="34" charset="-120"/>
                        </a:rPr>
                        <a:t>Élevée</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Rupture de série 2024</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300" dirty="0">
                          <a:solidFill>
                            <a:srgbClr val="1E2A26"/>
                          </a:solidFill>
                          <a:latin typeface="Arial" pitchFamily="34" charset="0"/>
                          <a:ea typeface="Arial" pitchFamily="34" charset="-122"/>
                          <a:cs typeface="Arial" pitchFamily="34" charset="-120"/>
                        </a:rPr>
                        <a:t>Séparer historique et nouvelles OP</a:t>
                      </a:r>
                      <a:endParaRPr lang="en-US" sz="1300" dirty="0">
                        <a:latin typeface="Arial" charset="0"/>
                        <a:ea typeface="Arial" charset="0"/>
                        <a:cs typeface="Arial" charset="0"/>
                      </a:endParaRPr>
                    </a:p>
                  </a:txBody>
                  <a:tcPr marL="91440" marR="91440" marT="54864" marB="54864">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bl>
          </a:graphicData>
        </a:graphic>
      </p:graphicFrame>
      <p:sp>
        <p:nvSpPr>
          <p:cNvPr id="12" name="Text 9"/>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Registre complet : page Qualité du dashboard et fichier qualite_controles.csv, à annexer au PV</a:t>
            </a:r>
            <a:endParaRPr lang="en-US" sz="1100" dirty="0"/>
          </a:p>
        </p:txBody>
      </p:sp>
      <p:sp>
        <p:nvSpPr>
          <p:cNvPr id="13" name="Text 10"/>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REPORTING BAILLEUR</a:t>
            </a:r>
            <a:endParaRPr lang="en-US" sz="1200" dirty="0"/>
          </a:p>
        </p:txBody>
      </p:sp>
      <p:sp>
        <p:nvSpPr>
          <p:cNvPr id="3" name="Text 1"/>
          <p:cNvSpPr txBox="1"/>
          <p:nvPr/>
        </p:nvSpPr>
        <p:spPr>
          <a:xfrm>
            <a:off x="813816" y="960120"/>
            <a:ext cx="10515600" cy="82296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12 indicateurs bailleur : 9 disponibles, 3 à collecter</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10564063" cy="914400"/>
        </p:xfrm>
        <a:graphic>
          <a:graphicData uri="http://schemas.openxmlformats.org/drawingml/2006/table">
            <a:tbl>
              <a:tblPr/>
              <a:tblGrid>
                <a:gridCol w="548640"/>
                <a:gridCol w="5806440"/>
                <a:gridCol w="2103120"/>
                <a:gridCol w="2103120"/>
              </a:tblGrid>
              <a:tr h="310896">
                <a:tc>
                  <a:txBody>
                    <a:bodyPr/>
                    <a:lstStyle/>
                    <a:p>
                      <a:pPr indent="0" marL="0">
                        <a:buNone/>
                      </a:pPr>
                      <a:r>
                        <a:rPr lang="en-US" sz="1200" b="1" dirty="0">
                          <a:solidFill>
                            <a:srgbClr val="F6F3EC"/>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200" b="1" dirty="0">
                          <a:solidFill>
                            <a:srgbClr val="F6F3EC"/>
                          </a:solidFill>
                          <a:latin typeface="Arial" pitchFamily="34" charset="0"/>
                          <a:ea typeface="Arial" pitchFamily="34" charset="-122"/>
                          <a:cs typeface="Arial" pitchFamily="34" charset="-120"/>
                        </a:rPr>
                        <a:t>Indicateur</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200" b="1" dirty="0">
                          <a:solidFill>
                            <a:srgbClr val="F6F3EC"/>
                          </a:solidFill>
                          <a:latin typeface="Arial" pitchFamily="34" charset="0"/>
                          <a:ea typeface="Arial" pitchFamily="34" charset="-122"/>
                          <a:cs typeface="Arial" pitchFamily="34" charset="-120"/>
                        </a:rPr>
                        <a:t>Valeur actuelle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c>
                  <a:txBody>
                    <a:bodyPr/>
                    <a:lstStyle/>
                    <a:p>
                      <a:pPr indent="0" marL="0">
                        <a:buNone/>
                      </a:pPr>
                      <a:r>
                        <a:rPr lang="en-US" sz="1200" b="1" dirty="0">
                          <a:solidFill>
                            <a:srgbClr val="F6F3EC"/>
                          </a:solidFill>
                          <a:latin typeface="Arial" pitchFamily="34" charset="0"/>
                          <a:ea typeface="Arial" pitchFamily="34" charset="-122"/>
                          <a:cs typeface="Arial" pitchFamily="34" charset="-120"/>
                        </a:rPr>
                        <a:t>Fiabilité</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1E2A26"/>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Producteurs de café appuyés</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12 184 (2025)</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Bonne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Part des femmes parmi les producteurs de café</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25,6 %</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Bonne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Part des jeunes de 15-35 ans</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44,7 %</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Bonne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Taux de rétention annuel des membres</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99,6 %</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Bonne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Producteurs certifiés bio / fairtrade conformes</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86,9 %</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Moyenne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Superficie de café sous gestion certifiée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6 770 ha</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Moyenne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Ménages cacao au revenu vital (seuil ajusté)</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40 % (2024)</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Indicative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Écart médian au revenu vital sous le seuil</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2 225 USD/an</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Indicative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1ECE0"/>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Part du cacao dans le revenu net</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87 %</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Indicative</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FFDF8"/>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Revenu net café par producteur</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À mesurer</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Collecte à créer</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Prix moyen payé au producteur de café</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À mesurer</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Collecte à créer</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r>
              <a:tr h="310896">
                <a:tc>
                  <a:txBody>
                    <a:bodyPr/>
                    <a:lstStyle/>
                    <a:p>
                      <a:pPr indent="0" marL="0">
                        <a:buNone/>
                      </a:pPr>
                      <a:r>
                        <a:rPr lang="en-US" sz="1200" dirty="0">
                          <a:solidFill>
                            <a:srgbClr val="1E2A26"/>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Rendement cacao par ha productif</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567 kg/ha</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c>
                  <a:txBody>
                    <a:bodyPr/>
                    <a:lstStyle/>
                    <a:p>
                      <a:pPr indent="0" marL="0">
                        <a:buNone/>
                      </a:pPr>
                      <a:r>
                        <a:rPr lang="en-US" sz="1200" dirty="0">
                          <a:solidFill>
                            <a:srgbClr val="1E2A26"/>
                          </a:solidFill>
                          <a:latin typeface="Arial" pitchFamily="34" charset="0"/>
                          <a:ea typeface="Arial" pitchFamily="34" charset="-122"/>
                          <a:cs typeface="Arial" pitchFamily="34" charset="-120"/>
                        </a:rPr>
                        <a:t>Suivi annuel à créer</a:t>
                      </a:r>
                      <a:endParaRPr lang="en-US" sz="1200" dirty="0">
                        <a:latin typeface="Arial" charset="0"/>
                        <a:ea typeface="Arial" charset="0"/>
                        <a:cs typeface="Arial" charset="0"/>
                      </a:endParaRPr>
                    </a:p>
                  </a:txBody>
                  <a:tcPr marL="91440" marR="91440" marT="27432" marB="27432">
                    <a:lnL w="9525" cap="flat" cmpd="sng" algn="ctr">
                      <a:solidFill>
                        <a:srgbClr val="E2DDD0"/>
                      </a:solidFill>
                      <a:prstDash val="solid"/>
                      <a:round/>
                      <a:headEnd type="none" w="med" len="med"/>
                      <a:tailEnd type="none" w="med" len="med"/>
                    </a:lnL>
                    <a:lnR w="9525" cap="flat" cmpd="sng" algn="ctr">
                      <a:solidFill>
                        <a:srgbClr val="E2DDD0"/>
                      </a:solidFill>
                      <a:prstDash val="solid"/>
                      <a:round/>
                      <a:headEnd type="none" w="med" len="med"/>
                      <a:tailEnd type="none" w="med" len="med"/>
                    </a:lnR>
                    <a:lnT w="9525" cap="flat" cmpd="sng" algn="ctr">
                      <a:solidFill>
                        <a:srgbClr val="E2DDD0"/>
                      </a:solidFill>
                      <a:prstDash val="solid"/>
                      <a:round/>
                      <a:headEnd type="none" w="med" len="med"/>
                      <a:tailEnd type="none" w="med" len="med"/>
                    </a:lnT>
                    <a:lnB w="9525" cap="flat" cmpd="sng" algn="ctr">
                      <a:solidFill>
                        <a:srgbClr val="E2DDD0"/>
                      </a:solidFill>
                      <a:prstDash val="solid"/>
                      <a:round/>
                      <a:headEnd type="none" w="med" len="med"/>
                      <a:tailEnd type="none" w="med" len="med"/>
                    </a:lnB>
                    <a:solidFill>
                      <a:srgbClr val="F4E8DC"/>
                    </a:solidFill>
                  </a:tcPr>
                </a:tc>
              </a:tr>
            </a:tbl>
          </a:graphicData>
        </a:graphic>
      </p:graphicFrame>
      <p:sp>
        <p:nvSpPr>
          <p:cNvPr id="5" name="Text 2"/>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Indicateurs 7 à 9 : refaire l'enquête tous les 2 ans, sur au moins 200 ménages dont 30 % de femmes</a:t>
            </a:r>
            <a:endParaRPr lang="en-US" sz="1100" dirty="0"/>
          </a:p>
        </p:txBody>
      </p:sp>
      <p:sp>
        <p:nvSpPr>
          <p:cNvPr id="6" name="Text 3"/>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FEUILLE DE ROUTE</a:t>
            </a:r>
            <a:endParaRPr lang="en-US" sz="1200" dirty="0"/>
          </a:p>
        </p:txBody>
      </p:sp>
      <p:sp>
        <p:nvSpPr>
          <p:cNvPr id="3" name="Text 1"/>
          <p:cNvSpPr txBox="1"/>
          <p:nvPr/>
        </p:nvSpPr>
        <p:spPr>
          <a:xfrm>
            <a:off x="813816" y="960120"/>
            <a:ext cx="10058400" cy="109728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Fiabiliser la base d'ici fin 2026, mesurer les revenus réels en 2027</a:t>
            </a:r>
            <a:endParaRPr lang="en-US" sz="3200" dirty="0"/>
          </a:p>
        </p:txBody>
      </p:sp>
      <p:sp>
        <p:nvSpPr>
          <p:cNvPr id="4" name="Shape 2"/>
          <p:cNvSpPr/>
          <p:nvPr/>
        </p:nvSpPr>
        <p:spPr>
          <a:xfrm>
            <a:off x="813816" y="2148840"/>
            <a:ext cx="3003194" cy="3566160"/>
          </a:xfrm>
          <a:prstGeom prst="roundRect">
            <a:avLst>
              <a:gd name="adj" fmla="val 2436"/>
            </a:avLst>
          </a:prstGeom>
          <a:solidFill>
            <a:srgbClr val="FFFDF8"/>
          </a:solidFill>
          <a:ln w="25400">
            <a:solidFill>
              <a:srgbClr val="9A5B2E"/>
            </a:solidFill>
            <a:prstDash val="solid"/>
          </a:ln>
        </p:spPr>
      </p:sp>
      <p:sp>
        <p:nvSpPr>
          <p:cNvPr id="5" name="Text 3"/>
          <p:cNvSpPr txBox="1"/>
          <p:nvPr/>
        </p:nvSpPr>
        <p:spPr>
          <a:xfrm>
            <a:off x="1042416" y="2331720"/>
            <a:ext cx="2591714" cy="411480"/>
          </a:xfrm>
          <a:prstGeom prst="rect">
            <a:avLst/>
          </a:prstGeom>
          <a:noFill/>
          <a:ln/>
        </p:spPr>
        <p:txBody>
          <a:bodyPr wrap="square" lIns="0" tIns="0" rIns="0" bIns="0" rtlCol="0" anchor="ctr"/>
          <a:lstStyle/>
          <a:p>
            <a:pPr indent="0" marL="0">
              <a:buNone/>
            </a:pPr>
            <a:r>
              <a:rPr lang="en-US" sz="1800" b="1" dirty="0">
                <a:solidFill>
                  <a:srgbClr val="9A5B2E"/>
                </a:solidFill>
                <a:latin typeface="Arial" pitchFamily="34" charset="0"/>
                <a:ea typeface="Arial" pitchFamily="34" charset="-122"/>
                <a:cs typeface="Arial" pitchFamily="34" charset="-120"/>
              </a:rPr>
              <a:t>1. Fiabiliser la base</a:t>
            </a:r>
            <a:endParaRPr lang="en-US" sz="1800" dirty="0"/>
          </a:p>
        </p:txBody>
      </p:sp>
      <p:sp>
        <p:nvSpPr>
          <p:cNvPr id="6" name="Text 4"/>
          <p:cNvSpPr txBox="1"/>
          <p:nvPr/>
        </p:nvSpPr>
        <p:spPr>
          <a:xfrm>
            <a:off x="1042416" y="2761488"/>
            <a:ext cx="2591714" cy="320040"/>
          </a:xfrm>
          <a:prstGeom prst="rect">
            <a:avLst/>
          </a:prstGeom>
          <a:noFill/>
          <a:ln/>
        </p:spPr>
        <p:txBody>
          <a:bodyPr wrap="square" lIns="0" tIns="0" rIns="0" bIns="0" rtlCol="0" anchor="ctr"/>
          <a:lstStyle/>
          <a:p>
            <a:pPr indent="0" marL="0">
              <a:buNone/>
            </a:pPr>
            <a:r>
              <a:rPr lang="en-US" sz="1300" dirty="0">
                <a:solidFill>
                  <a:srgbClr val="6B6F66"/>
                </a:solidFill>
                <a:latin typeface="Arial" pitchFamily="34" charset="0"/>
                <a:ea typeface="Arial" pitchFamily="34" charset="-122"/>
                <a:cs typeface="Arial" pitchFamily="34" charset="-120"/>
              </a:rPr>
              <a:t>Octobre – décembre 2026</a:t>
            </a:r>
            <a:endParaRPr lang="en-US" sz="1300" dirty="0"/>
          </a:p>
        </p:txBody>
      </p:sp>
      <p:sp>
        <p:nvSpPr>
          <p:cNvPr id="7" name="Text 5"/>
          <p:cNvSpPr txBox="1"/>
          <p:nvPr/>
        </p:nvSpPr>
        <p:spPr>
          <a:xfrm>
            <a:off x="996696" y="3200400"/>
            <a:ext cx="2637434"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Dédoublonner 2 099 lignes</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Compléter territoire et certification</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Renommer living_income</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Signer le PV de validation partielle</a:t>
            </a:r>
            <a:endParaRPr lang="en-US" sz="1300" dirty="0"/>
          </a:p>
        </p:txBody>
      </p:sp>
      <p:sp>
        <p:nvSpPr>
          <p:cNvPr id="8" name="Shape 6"/>
          <p:cNvSpPr/>
          <p:nvPr/>
        </p:nvSpPr>
        <p:spPr>
          <a:xfrm>
            <a:off x="4050182" y="3611880"/>
            <a:ext cx="310896" cy="310896"/>
          </a:xfrm>
          <a:prstGeom prst="diamond">
            <a:avLst/>
          </a:prstGeom>
          <a:solidFill>
            <a:srgbClr val="E3B98C"/>
          </a:solidFill>
          <a:ln w="15875">
            <a:solidFill>
              <a:srgbClr val="9A5B2E"/>
            </a:solidFill>
            <a:prstDash val="solid"/>
          </a:ln>
        </p:spPr>
      </p:sp>
      <p:sp>
        <p:nvSpPr>
          <p:cNvPr id="9" name="Text 7"/>
          <p:cNvSpPr txBox="1"/>
          <p:nvPr/>
        </p:nvSpPr>
        <p:spPr>
          <a:xfrm>
            <a:off x="3876446" y="3977640"/>
            <a:ext cx="658368" cy="548640"/>
          </a:xfrm>
          <a:prstGeom prst="rect">
            <a:avLst/>
          </a:prstGeom>
          <a:noFill/>
          <a:ln/>
        </p:spPr>
        <p:txBody>
          <a:bodyPr wrap="square" lIns="0" tIns="0" rIns="0" bIns="0" rtlCol="0" anchor="ctr"/>
          <a:lstStyle/>
          <a:p>
            <a:pPr algn="ctr" indent="0" marL="0">
              <a:buNone/>
            </a:pPr>
            <a:r>
              <a:rPr lang="en-US" sz="1000" dirty="0">
                <a:solidFill>
                  <a:srgbClr val="4A514C"/>
                </a:solidFill>
                <a:latin typeface="Arial" pitchFamily="34" charset="0"/>
                <a:ea typeface="Arial" pitchFamily="34" charset="-122"/>
                <a:cs typeface="Arial" pitchFamily="34" charset="-120"/>
              </a:rPr>
              <a:t>PV signé</a:t>
            </a:r>
            <a:endParaRPr lang="en-US" sz="1000" dirty="0"/>
          </a:p>
        </p:txBody>
      </p:sp>
      <p:sp>
        <p:nvSpPr>
          <p:cNvPr id="10" name="Shape 8"/>
          <p:cNvSpPr/>
          <p:nvPr/>
        </p:nvSpPr>
        <p:spPr>
          <a:xfrm>
            <a:off x="4594250" y="2148840"/>
            <a:ext cx="3003194" cy="3566160"/>
          </a:xfrm>
          <a:prstGeom prst="roundRect">
            <a:avLst>
              <a:gd name="adj" fmla="val 2436"/>
            </a:avLst>
          </a:prstGeom>
          <a:solidFill>
            <a:srgbClr val="FFFDF8"/>
          </a:solidFill>
          <a:ln w="9525">
            <a:solidFill>
              <a:srgbClr val="E2DDD0"/>
            </a:solidFill>
            <a:prstDash val="solid"/>
          </a:ln>
        </p:spPr>
      </p:sp>
      <p:sp>
        <p:nvSpPr>
          <p:cNvPr id="11" name="Text 9"/>
          <p:cNvSpPr txBox="1"/>
          <p:nvPr/>
        </p:nvSpPr>
        <p:spPr>
          <a:xfrm>
            <a:off x="4822850" y="2331720"/>
            <a:ext cx="2591714" cy="411480"/>
          </a:xfrm>
          <a:prstGeom prst="rect">
            <a:avLst/>
          </a:prstGeom>
          <a:noFill/>
          <a:ln/>
        </p:spPr>
        <p:txBody>
          <a:bodyPr wrap="square" lIns="0" tIns="0" rIns="0" bIns="0" rtlCol="0" anchor="ctr"/>
          <a:lstStyle/>
          <a:p>
            <a:pPr indent="0" marL="0">
              <a:buNone/>
            </a:pPr>
            <a:r>
              <a:rPr lang="en-US" sz="1800" b="1" dirty="0">
                <a:solidFill>
                  <a:srgbClr val="1E2A26"/>
                </a:solidFill>
                <a:latin typeface="Arial" pitchFamily="34" charset="0"/>
                <a:ea typeface="Arial" pitchFamily="34" charset="-122"/>
                <a:cs typeface="Arial" pitchFamily="34" charset="-120"/>
              </a:rPr>
              <a:t>2. Préparer la mesure</a:t>
            </a:r>
            <a:endParaRPr lang="en-US" sz="1800" dirty="0"/>
          </a:p>
        </p:txBody>
      </p:sp>
      <p:sp>
        <p:nvSpPr>
          <p:cNvPr id="12" name="Text 10"/>
          <p:cNvSpPr txBox="1"/>
          <p:nvPr/>
        </p:nvSpPr>
        <p:spPr>
          <a:xfrm>
            <a:off x="4822850" y="2761488"/>
            <a:ext cx="2591714" cy="320040"/>
          </a:xfrm>
          <a:prstGeom prst="rect">
            <a:avLst/>
          </a:prstGeom>
          <a:noFill/>
          <a:ln/>
        </p:spPr>
        <p:txBody>
          <a:bodyPr wrap="square" lIns="0" tIns="0" rIns="0" bIns="0" rtlCol="0" anchor="ctr"/>
          <a:lstStyle/>
          <a:p>
            <a:pPr indent="0" marL="0">
              <a:buNone/>
            </a:pPr>
            <a:r>
              <a:rPr lang="en-US" sz="1300" dirty="0">
                <a:solidFill>
                  <a:srgbClr val="6B6F66"/>
                </a:solidFill>
                <a:latin typeface="Arial" pitchFamily="34" charset="0"/>
                <a:ea typeface="Arial" pitchFamily="34" charset="-122"/>
                <a:cs typeface="Arial" pitchFamily="34" charset="-120"/>
              </a:rPr>
              <a:t>Janvier – mars 2027</a:t>
            </a:r>
            <a:endParaRPr lang="en-US" sz="1300" dirty="0"/>
          </a:p>
        </p:txBody>
      </p:sp>
      <p:sp>
        <p:nvSpPr>
          <p:cNvPr id="13" name="Text 11"/>
          <p:cNvSpPr txBox="1"/>
          <p:nvPr/>
        </p:nvSpPr>
        <p:spPr>
          <a:xfrm>
            <a:off x="4777130" y="3200400"/>
            <a:ext cx="2637434"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Module ventes réelles : kilos livrés et prix payé</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Échantillon revenu vital : 200 ménages, 30 % de femmes</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Former les 4 coopératives</a:t>
            </a:r>
            <a:endParaRPr lang="en-US" sz="1300" dirty="0"/>
          </a:p>
        </p:txBody>
      </p:sp>
      <p:sp>
        <p:nvSpPr>
          <p:cNvPr id="14" name="Shape 12"/>
          <p:cNvSpPr/>
          <p:nvPr/>
        </p:nvSpPr>
        <p:spPr>
          <a:xfrm>
            <a:off x="7830617" y="3611880"/>
            <a:ext cx="310896" cy="310896"/>
          </a:xfrm>
          <a:prstGeom prst="diamond">
            <a:avLst/>
          </a:prstGeom>
          <a:solidFill>
            <a:srgbClr val="E3B98C"/>
          </a:solidFill>
          <a:ln w="15875">
            <a:solidFill>
              <a:srgbClr val="9A5B2E"/>
            </a:solidFill>
            <a:prstDash val="solid"/>
          </a:ln>
        </p:spPr>
      </p:sp>
      <p:sp>
        <p:nvSpPr>
          <p:cNvPr id="15" name="Text 13"/>
          <p:cNvSpPr txBox="1"/>
          <p:nvPr/>
        </p:nvSpPr>
        <p:spPr>
          <a:xfrm>
            <a:off x="7656881" y="3977640"/>
            <a:ext cx="658368" cy="548640"/>
          </a:xfrm>
          <a:prstGeom prst="rect">
            <a:avLst/>
          </a:prstGeom>
          <a:noFill/>
          <a:ln/>
        </p:spPr>
        <p:txBody>
          <a:bodyPr wrap="square" lIns="0" tIns="0" rIns="0" bIns="0" rtlCol="0" anchor="ctr"/>
          <a:lstStyle/>
          <a:p>
            <a:pPr algn="ctr" indent="0" marL="0">
              <a:buNone/>
            </a:pPr>
            <a:r>
              <a:rPr lang="en-US" sz="1000" dirty="0">
                <a:solidFill>
                  <a:srgbClr val="4A514C"/>
                </a:solidFill>
                <a:latin typeface="Arial" pitchFamily="34" charset="0"/>
                <a:ea typeface="Arial" pitchFamily="34" charset="-122"/>
                <a:cs typeface="Arial" pitchFamily="34" charset="-120"/>
              </a:rPr>
              <a:t>Outils testés</a:t>
            </a:r>
            <a:endParaRPr lang="en-US" sz="1000" dirty="0"/>
          </a:p>
        </p:txBody>
      </p:sp>
      <p:sp>
        <p:nvSpPr>
          <p:cNvPr id="16" name="Shape 14"/>
          <p:cNvSpPr/>
          <p:nvPr/>
        </p:nvSpPr>
        <p:spPr>
          <a:xfrm>
            <a:off x="8374685" y="2148840"/>
            <a:ext cx="3003194" cy="3566160"/>
          </a:xfrm>
          <a:prstGeom prst="roundRect">
            <a:avLst>
              <a:gd name="adj" fmla="val 2436"/>
            </a:avLst>
          </a:prstGeom>
          <a:solidFill>
            <a:srgbClr val="FFFDF8"/>
          </a:solidFill>
          <a:ln w="9525">
            <a:solidFill>
              <a:srgbClr val="E2DDD0"/>
            </a:solidFill>
            <a:prstDash val="solid"/>
          </a:ln>
        </p:spPr>
      </p:sp>
      <p:sp>
        <p:nvSpPr>
          <p:cNvPr id="17" name="Text 15"/>
          <p:cNvSpPr txBox="1"/>
          <p:nvPr/>
        </p:nvSpPr>
        <p:spPr>
          <a:xfrm>
            <a:off x="8603285" y="2331720"/>
            <a:ext cx="2591714" cy="411480"/>
          </a:xfrm>
          <a:prstGeom prst="rect">
            <a:avLst/>
          </a:prstGeom>
          <a:noFill/>
          <a:ln/>
        </p:spPr>
        <p:txBody>
          <a:bodyPr wrap="square" lIns="0" tIns="0" rIns="0" bIns="0" rtlCol="0" anchor="ctr"/>
          <a:lstStyle/>
          <a:p>
            <a:pPr indent="0" marL="0">
              <a:buNone/>
            </a:pPr>
            <a:r>
              <a:rPr lang="en-US" sz="1800" b="1" dirty="0">
                <a:solidFill>
                  <a:srgbClr val="1E2A26"/>
                </a:solidFill>
                <a:latin typeface="Arial" pitchFamily="34" charset="0"/>
                <a:ea typeface="Arial" pitchFamily="34" charset="-122"/>
                <a:cs typeface="Arial" pitchFamily="34" charset="-120"/>
              </a:rPr>
              <a:t>3. Mesurer et agir</a:t>
            </a:r>
            <a:endParaRPr lang="en-US" sz="1800" dirty="0"/>
          </a:p>
        </p:txBody>
      </p:sp>
      <p:sp>
        <p:nvSpPr>
          <p:cNvPr id="18" name="Text 16"/>
          <p:cNvSpPr txBox="1"/>
          <p:nvPr/>
        </p:nvSpPr>
        <p:spPr>
          <a:xfrm>
            <a:off x="8603285" y="2761488"/>
            <a:ext cx="2591714" cy="320040"/>
          </a:xfrm>
          <a:prstGeom prst="rect">
            <a:avLst/>
          </a:prstGeom>
          <a:noFill/>
          <a:ln/>
        </p:spPr>
        <p:txBody>
          <a:bodyPr wrap="square" lIns="0" tIns="0" rIns="0" bIns="0" rtlCol="0" anchor="ctr"/>
          <a:lstStyle/>
          <a:p>
            <a:pPr indent="0" marL="0">
              <a:buNone/>
            </a:pPr>
            <a:r>
              <a:rPr lang="en-US" sz="1300" dirty="0">
                <a:solidFill>
                  <a:srgbClr val="6B6F66"/>
                </a:solidFill>
                <a:latin typeface="Arial" pitchFamily="34" charset="0"/>
                <a:ea typeface="Arial" pitchFamily="34" charset="-122"/>
                <a:cs typeface="Arial" pitchFamily="34" charset="-120"/>
              </a:rPr>
              <a:t>Campagne 2027</a:t>
            </a:r>
            <a:endParaRPr lang="en-US" sz="1300" dirty="0"/>
          </a:p>
        </p:txBody>
      </p:sp>
      <p:sp>
        <p:nvSpPr>
          <p:cNvPr id="19" name="Text 17"/>
          <p:cNvSpPr txBox="1"/>
          <p:nvPr/>
        </p:nvSpPr>
        <p:spPr>
          <a:xfrm>
            <a:off x="8557565" y="3200400"/>
            <a:ext cx="2637434"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Collecter les ventes réelles</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2e vague revenu vital cacao</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Diversification à Babungwe et Mambasa</a:t>
            </a:r>
            <a:endParaRPr lang="en-US" sz="1300" dirty="0"/>
          </a:p>
          <a:p>
            <a:pPr marL="342900" indent="-342900">
              <a:spcAft>
                <a:spcPts val="600"/>
              </a:spcAft>
              <a:buSzPct val="100000"/>
              <a:buChar char="•"/>
            </a:pPr>
            <a:r>
              <a:rPr lang="en-US" sz="1300" dirty="0">
                <a:solidFill>
                  <a:srgbClr val="1E2A26"/>
                </a:solidFill>
                <a:latin typeface="Arial" pitchFamily="34" charset="0"/>
                <a:ea typeface="Arial" pitchFamily="34" charset="-122"/>
                <a:cs typeface="Arial" pitchFamily="34" charset="-120"/>
              </a:rPr>
              <a:t>Cibler femmes (COOKKANZ) et jeunes (CKK)</a:t>
            </a:r>
            <a:endParaRPr lang="en-US" sz="1300" dirty="0"/>
          </a:p>
        </p:txBody>
      </p:sp>
      <p:sp>
        <p:nvSpPr>
          <p:cNvPr id="20" name="Text 18"/>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9A5B2E"/>
                </a:solidFill>
                <a:latin typeface="Arial" pitchFamily="34" charset="0"/>
                <a:ea typeface="Arial" pitchFamily="34" charset="-122"/>
                <a:cs typeface="Arial" pitchFamily="34" charset="-120"/>
              </a:rPr>
              <a:t>PILOTAGE</a:t>
            </a:r>
            <a:endParaRPr lang="en-US" sz="1200" dirty="0"/>
          </a:p>
        </p:txBody>
      </p:sp>
      <p:sp>
        <p:nvSpPr>
          <p:cNvPr id="3" name="Text 1"/>
          <p:cNvSpPr txBox="1"/>
          <p:nvPr/>
        </p:nvSpPr>
        <p:spPr>
          <a:xfrm>
            <a:off x="813816" y="960120"/>
            <a:ext cx="10564063" cy="822960"/>
          </a:xfrm>
          <a:prstGeom prst="rect">
            <a:avLst/>
          </a:prstGeom>
          <a:noFill/>
          <a:ln/>
        </p:spPr>
        <p:txBody>
          <a:bodyPr wrap="square" lIns="0" tIns="0" rIns="0" bIns="0" rtlCol="0" anchor="t"/>
          <a:lstStyle/>
          <a:p>
            <a:pPr indent="0" marL="0">
              <a:buNone/>
            </a:pPr>
            <a:r>
              <a:rPr lang="en-US" sz="3200" b="1" dirty="0">
                <a:solidFill>
                  <a:srgbClr val="1E2A26"/>
                </a:solidFill>
                <a:latin typeface="Cambria" pitchFamily="34" charset="0"/>
                <a:ea typeface="Cambria" pitchFamily="34" charset="-122"/>
                <a:cs typeface="Cambria" pitchFamily="34" charset="-120"/>
              </a:rPr>
              <a:t>Tous ces chiffres, sur un seul écran Power BI</a:t>
            </a:r>
            <a:endParaRPr lang="en-US" sz="3200" dirty="0"/>
          </a:p>
        </p:txBody>
      </p:sp>
      <p:pic>
        <p:nvPicPr>
          <p:cNvPr id="4" name="Image 0" descr="Page Synthèse direction du dashboard Power BI : cartes café 2025 et cacao, producteurs par campagne, ménages au revenu vital par section, messages clés et contrôles qualité">    </p:cNvPr>
          <p:cNvPicPr>
            <a:picLocks noChangeAspect="1"/>
          </p:cNvPicPr>
          <p:nvPr/>
        </p:nvPicPr>
        <p:blipFill>
          <a:blip r:embed="rId1"/>
          <a:stretch>
            <a:fillRect/>
          </a:stretch>
        </p:blipFill>
        <p:spPr>
          <a:xfrm>
            <a:off x="813816" y="1783080"/>
            <a:ext cx="7589520" cy="3905287"/>
          </a:xfrm>
          <a:prstGeom prst="rect">
            <a:avLst/>
          </a:prstGeom>
        </p:spPr>
      </p:pic>
      <p:sp>
        <p:nvSpPr>
          <p:cNvPr id="5" name="Text 2"/>
          <p:cNvSpPr txBox="1"/>
          <p:nvPr/>
        </p:nvSpPr>
        <p:spPr>
          <a:xfrm>
            <a:off x="8778240" y="1828800"/>
            <a:ext cx="2651760" cy="411480"/>
          </a:xfrm>
          <a:prstGeom prst="rect">
            <a:avLst/>
          </a:prstGeom>
          <a:noFill/>
          <a:ln/>
        </p:spPr>
        <p:txBody>
          <a:bodyPr wrap="square" lIns="0" tIns="0" rIns="0" bIns="0" rtlCol="0" anchor="ctr"/>
          <a:lstStyle/>
          <a:p>
            <a:pPr indent="0" marL="0">
              <a:buNone/>
            </a:pPr>
            <a:r>
              <a:rPr lang="en-US" sz="1800" b="1" dirty="0">
                <a:solidFill>
                  <a:srgbClr val="1E2A26"/>
                </a:solidFill>
                <a:latin typeface="Arial" pitchFamily="34" charset="0"/>
                <a:ea typeface="Arial" pitchFamily="34" charset="-122"/>
                <a:cs typeface="Arial" pitchFamily="34" charset="-120"/>
              </a:rPr>
              <a:t>5 pages</a:t>
            </a:r>
            <a:endParaRPr lang="en-US" sz="1800" dirty="0"/>
          </a:p>
        </p:txBody>
      </p:sp>
      <p:sp>
        <p:nvSpPr>
          <p:cNvPr id="6" name="Text 3"/>
          <p:cNvSpPr txBox="1"/>
          <p:nvPr/>
        </p:nvSpPr>
        <p:spPr>
          <a:xfrm>
            <a:off x="8778240" y="2331720"/>
            <a:ext cx="2651760" cy="18288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rgbClr val="4A514C"/>
                </a:solidFill>
                <a:latin typeface="Arial" pitchFamily="34" charset="0"/>
                <a:ea typeface="Arial" pitchFamily="34" charset="-122"/>
                <a:cs typeface="Arial" pitchFamily="34" charset="-120"/>
              </a:rPr>
              <a:t>Synthèse</a:t>
            </a:r>
            <a:endParaRPr lang="en-US" sz="1400" dirty="0"/>
          </a:p>
          <a:p>
            <a:pPr marL="342900" indent="-342900">
              <a:spcAft>
                <a:spcPts val="400"/>
              </a:spcAft>
              <a:buSzPct val="100000"/>
              <a:buFont typeface="+mj-lt"/>
              <a:buAutoNum type="arabicPeriod" startAt="1"/>
            </a:pPr>
            <a:r>
              <a:rPr lang="en-US" sz="1400" dirty="0">
                <a:solidFill>
                  <a:srgbClr val="4A514C"/>
                </a:solidFill>
                <a:latin typeface="Arial" pitchFamily="34" charset="0"/>
                <a:ea typeface="Arial" pitchFamily="34" charset="-122"/>
                <a:cs typeface="Arial" pitchFamily="34" charset="-120"/>
              </a:rPr>
              <a:t>Café : bénéficiaires</a:t>
            </a:r>
            <a:endParaRPr lang="en-US" sz="1400" dirty="0"/>
          </a:p>
          <a:p>
            <a:pPr marL="342900" indent="-342900">
              <a:spcAft>
                <a:spcPts val="400"/>
              </a:spcAft>
              <a:buSzPct val="100000"/>
              <a:buFont typeface="+mj-lt"/>
              <a:buAutoNum type="arabicPeriod" startAt="1"/>
            </a:pPr>
            <a:r>
              <a:rPr lang="en-US" sz="1400" dirty="0">
                <a:solidFill>
                  <a:srgbClr val="4A514C"/>
                </a:solidFill>
                <a:latin typeface="Arial" pitchFamily="34" charset="0"/>
                <a:ea typeface="Arial" pitchFamily="34" charset="-122"/>
                <a:cs typeface="Arial" pitchFamily="34" charset="-120"/>
              </a:rPr>
              <a:t>Café : économie</a:t>
            </a:r>
            <a:endParaRPr lang="en-US" sz="1400" dirty="0"/>
          </a:p>
          <a:p>
            <a:pPr marL="342900" indent="-342900">
              <a:spcAft>
                <a:spcPts val="400"/>
              </a:spcAft>
              <a:buSzPct val="100000"/>
              <a:buFont typeface="+mj-lt"/>
              <a:buAutoNum type="arabicPeriod" startAt="1"/>
            </a:pPr>
            <a:r>
              <a:rPr lang="en-US" sz="1400" dirty="0">
                <a:solidFill>
                  <a:srgbClr val="4A514C"/>
                </a:solidFill>
                <a:latin typeface="Arial" pitchFamily="34" charset="0"/>
                <a:ea typeface="Arial" pitchFamily="34" charset="-122"/>
                <a:cs typeface="Arial" pitchFamily="34" charset="-120"/>
              </a:rPr>
              <a:t>Cacao : revenu vital</a:t>
            </a:r>
            <a:endParaRPr lang="en-US" sz="1400" dirty="0"/>
          </a:p>
          <a:p>
            <a:pPr marL="342900" indent="-342900">
              <a:spcAft>
                <a:spcPts val="400"/>
              </a:spcAft>
              <a:buSzPct val="100000"/>
              <a:buFont typeface="+mj-lt"/>
              <a:buAutoNum type="arabicPeriod" startAt="1"/>
            </a:pPr>
            <a:r>
              <a:rPr lang="en-US" sz="1400" dirty="0">
                <a:solidFill>
                  <a:srgbClr val="4A514C"/>
                </a:solidFill>
                <a:latin typeface="Arial" pitchFamily="34" charset="0"/>
                <a:ea typeface="Arial" pitchFamily="34" charset="-122"/>
                <a:cs typeface="Arial" pitchFamily="34" charset="-120"/>
              </a:rPr>
              <a:t>Qualité des données</a:t>
            </a:r>
            <a:endParaRPr lang="en-US" sz="1400" dirty="0"/>
          </a:p>
        </p:txBody>
      </p:sp>
      <p:sp>
        <p:nvSpPr>
          <p:cNvPr id="7" name="Text 4"/>
          <p:cNvSpPr txBox="1"/>
          <p:nvPr/>
        </p:nvSpPr>
        <p:spPr>
          <a:xfrm>
            <a:off x="8778240" y="4343400"/>
            <a:ext cx="2651760" cy="822960"/>
          </a:xfrm>
          <a:prstGeom prst="rect">
            <a:avLst/>
          </a:prstGeom>
          <a:noFill/>
          <a:ln/>
        </p:spPr>
        <p:txBody>
          <a:bodyPr wrap="square" lIns="0" tIns="0" rIns="0" bIns="0" rtlCol="0" anchor="t"/>
          <a:lstStyle/>
          <a:p>
            <a:pPr indent="0" marL="0">
              <a:buNone/>
            </a:pPr>
            <a:r>
              <a:rPr lang="en-US" sz="1400" dirty="0">
                <a:solidFill>
                  <a:srgbClr val="4A514C"/>
                </a:solidFill>
                <a:latin typeface="Arial" pitchFamily="34" charset="0"/>
                <a:ea typeface="Arial" pitchFamily="34" charset="-122"/>
                <a:cs typeface="Arial" pitchFamily="34" charset="-120"/>
              </a:rPr>
              <a:t>À revoir chaque trimestre, avec la page Qualité à l'ordre du jour.</a:t>
            </a:r>
            <a:endParaRPr lang="en-US" sz="1400" dirty="0"/>
          </a:p>
        </p:txBody>
      </p:sp>
      <p:sp>
        <p:nvSpPr>
          <p:cNvPr id="8" name="Text 5"/>
          <p:cNvSpPr txBox="1"/>
          <p:nvPr/>
        </p:nvSpPr>
        <p:spPr>
          <a:xfrm>
            <a:off x="813816" y="6245352"/>
            <a:ext cx="9509760" cy="274320"/>
          </a:xfrm>
          <a:prstGeom prst="rect">
            <a:avLst/>
          </a:prstGeom>
          <a:noFill/>
          <a:ln/>
        </p:spPr>
        <p:txBody>
          <a:bodyPr wrap="square" lIns="0" tIns="0" rIns="0" bIns="0" rtlCol="0" anchor="ctr"/>
          <a:lstStyle/>
          <a:p>
            <a:pPr indent="0" marL="0">
              <a:buNone/>
            </a:pPr>
            <a:r>
              <a:rPr lang="en-US" sz="1100" dirty="0">
                <a:solidFill>
                  <a:srgbClr val="6B6F66"/>
                </a:solidFill>
                <a:latin typeface="Arial" pitchFamily="34" charset="0"/>
                <a:ea typeface="Arial" pitchFamily="34" charset="-122"/>
                <a:cs typeface="Arial" pitchFamily="34" charset="-120"/>
              </a:rPr>
              <a:t>Page « Synthèse direction » · Rikolto_Cafe_Cacao.pbip · cartes café : campagne 2025</a:t>
            </a:r>
            <a:endParaRPr lang="en-US" sz="1100" dirty="0"/>
          </a:p>
        </p:txBody>
      </p:sp>
      <p:sp>
        <p:nvSpPr>
          <p:cNvPr id="9" name="Text 6"/>
          <p:cNvSpPr txBox="1"/>
          <p:nvPr/>
        </p:nvSpPr>
        <p:spPr>
          <a:xfrm>
            <a:off x="10646359" y="6245352"/>
            <a:ext cx="731520" cy="274320"/>
          </a:xfrm>
          <a:prstGeom prst="rect">
            <a:avLst/>
          </a:prstGeom>
          <a:noFill/>
          <a:ln/>
        </p:spPr>
        <p:txBody>
          <a:bodyPr wrap="square" lIns="0" tIns="0" rIns="0" bIns="0" rtlCol="0" anchor="ctr"/>
          <a:lstStyle/>
          <a:p>
            <a:pPr algn="r" indent="0" marL="0">
              <a:buNone/>
            </a:pPr>
            <a:r>
              <a:rPr lang="en-US" sz="1100" dirty="0">
                <a:solidFill>
                  <a:srgbClr val="6B6F66"/>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A26"/>
        </a:solidFill>
      </p:bgPr>
    </p:bg>
    <p:spTree>
      <p:nvGrpSpPr>
        <p:cNvPr id="1" name=""/>
        <p:cNvGrpSpPr/>
        <p:nvPr/>
      </p:nvGrpSpPr>
      <p:grpSpPr>
        <a:xfrm>
          <a:off x="0" y="0"/>
          <a:ext cx="0" cy="0"/>
          <a:chOff x="0" y="0"/>
          <a:chExt cx="0" cy="0"/>
        </a:xfrm>
      </p:grpSpPr>
      <p:sp>
        <p:nvSpPr>
          <p:cNvPr id="2" name="Text 0"/>
          <p:cNvSpPr txBox="1"/>
          <p:nvPr/>
        </p:nvSpPr>
        <p:spPr>
          <a:xfrm>
            <a:off x="813816" y="658368"/>
            <a:ext cx="10058400" cy="274320"/>
          </a:xfrm>
          <a:prstGeom prst="rect">
            <a:avLst/>
          </a:prstGeom>
          <a:noFill/>
          <a:ln/>
        </p:spPr>
        <p:txBody>
          <a:bodyPr wrap="square" lIns="0" tIns="0" rIns="0" bIns="0" rtlCol="0" anchor="ctr"/>
          <a:lstStyle/>
          <a:p>
            <a:pPr indent="0" marL="0">
              <a:buNone/>
            </a:pPr>
            <a:r>
              <a:rPr lang="en-US" sz="1200" b="1" spc="200" kern="0" dirty="0">
                <a:solidFill>
                  <a:srgbClr val="C98A4B"/>
                </a:solidFill>
                <a:latin typeface="Arial" pitchFamily="34" charset="0"/>
                <a:ea typeface="Arial" pitchFamily="34" charset="-122"/>
                <a:cs typeface="Arial" pitchFamily="34" charset="-120"/>
              </a:rPr>
              <a:t>POUR ALLER PLUS LOIN</a:t>
            </a:r>
            <a:endParaRPr lang="en-US" sz="1200" dirty="0"/>
          </a:p>
        </p:txBody>
      </p:sp>
      <p:sp>
        <p:nvSpPr>
          <p:cNvPr id="3" name="Text 1"/>
          <p:cNvSpPr txBox="1"/>
          <p:nvPr/>
        </p:nvSpPr>
        <p:spPr>
          <a:xfrm>
            <a:off x="813816" y="960120"/>
            <a:ext cx="10564063" cy="822960"/>
          </a:xfrm>
          <a:prstGeom prst="rect">
            <a:avLst/>
          </a:prstGeom>
          <a:noFill/>
          <a:ln/>
        </p:spPr>
        <p:txBody>
          <a:bodyPr wrap="square" lIns="0" tIns="0" rIns="0" bIns="0" rtlCol="0" anchor="t"/>
          <a:lstStyle/>
          <a:p>
            <a:pPr indent="0" marL="0">
              <a:buNone/>
            </a:pPr>
            <a:r>
              <a:rPr lang="en-US" sz="3600" b="1" dirty="0">
                <a:solidFill>
                  <a:srgbClr val="F6F3EC"/>
                </a:solidFill>
                <a:latin typeface="Cambria" pitchFamily="34" charset="0"/>
                <a:ea typeface="Cambria" pitchFamily="34" charset="-122"/>
                <a:cs typeface="Cambria" pitchFamily="34" charset="-120"/>
              </a:rPr>
              <a:t>Trois livrables pour suivre ces décisions</a:t>
            </a:r>
            <a:endParaRPr lang="en-US" sz="3600" dirty="0"/>
          </a:p>
        </p:txBody>
      </p:sp>
      <p:sp>
        <p:nvSpPr>
          <p:cNvPr id="4" name="Shape 2"/>
          <p:cNvSpPr/>
          <p:nvPr/>
        </p:nvSpPr>
        <p:spPr>
          <a:xfrm>
            <a:off x="813816" y="2926080"/>
            <a:ext cx="3387242" cy="1554480"/>
          </a:xfrm>
          <a:prstGeom prst="roundRect">
            <a:avLst>
              <a:gd name="adj" fmla="val 4706"/>
            </a:avLst>
          </a:prstGeom>
          <a:solidFill>
            <a:srgbClr val="2A3833"/>
          </a:solidFill>
          <a:ln/>
        </p:spPr>
      </p:sp>
      <p:sp>
        <p:nvSpPr>
          <p:cNvPr id="5" name="Text 3"/>
          <p:cNvSpPr txBox="1"/>
          <p:nvPr/>
        </p:nvSpPr>
        <p:spPr>
          <a:xfrm>
            <a:off x="1069848" y="3127248"/>
            <a:ext cx="2930042" cy="411480"/>
          </a:xfrm>
          <a:prstGeom prst="rect">
            <a:avLst/>
          </a:prstGeom>
          <a:noFill/>
          <a:ln/>
        </p:spPr>
        <p:txBody>
          <a:bodyPr wrap="square" lIns="0" tIns="0" rIns="0" bIns="0" rtlCol="0" anchor="ctr"/>
          <a:lstStyle/>
          <a:p>
            <a:pPr indent="0" marL="0">
              <a:buNone/>
            </a:pPr>
            <a:r>
              <a:rPr lang="en-US" sz="1800" b="1" dirty="0">
                <a:solidFill>
                  <a:srgbClr val="F6F3EC"/>
                </a:solidFill>
                <a:latin typeface="Arial" pitchFamily="34" charset="0"/>
                <a:ea typeface="Arial" pitchFamily="34" charset="-122"/>
                <a:cs typeface="Arial" pitchFamily="34" charset="-120"/>
              </a:rPr>
              <a:t>Rapport écrit</a:t>
            </a:r>
            <a:endParaRPr lang="en-US" sz="1800" dirty="0"/>
          </a:p>
        </p:txBody>
      </p:sp>
      <p:sp>
        <p:nvSpPr>
          <p:cNvPr id="6" name="Text 4"/>
          <p:cNvSpPr txBox="1"/>
          <p:nvPr/>
        </p:nvSpPr>
        <p:spPr>
          <a:xfrm>
            <a:off x="1069848" y="3584448"/>
            <a:ext cx="2930042" cy="822960"/>
          </a:xfrm>
          <a:prstGeom prst="rect">
            <a:avLst/>
          </a:prstGeom>
          <a:noFill/>
          <a:ln/>
        </p:spPr>
        <p:txBody>
          <a:bodyPr wrap="square" lIns="0" tIns="0" rIns="0" bIns="0" rtlCol="0" anchor="t"/>
          <a:lstStyle/>
          <a:p>
            <a:pPr indent="0" marL="0">
              <a:buNone/>
            </a:pPr>
            <a:r>
              <a:rPr lang="en-US" sz="1400" dirty="0">
                <a:solidFill>
                  <a:srgbClr val="C9D6CF"/>
                </a:solidFill>
                <a:latin typeface="Arial" pitchFamily="34" charset="0"/>
                <a:ea typeface="Arial" pitchFamily="34" charset="-122"/>
                <a:cs typeface="Arial" pitchFamily="34" charset="-120"/>
              </a:rPr>
              <a:t>Constats détaillés, méthode, avis qualité et indicateurs bailleur</a:t>
            </a:r>
            <a:endParaRPr lang="en-US" sz="1400" dirty="0"/>
          </a:p>
        </p:txBody>
      </p:sp>
      <p:sp>
        <p:nvSpPr>
          <p:cNvPr id="7" name="Shape 5"/>
          <p:cNvSpPr/>
          <p:nvPr/>
        </p:nvSpPr>
        <p:spPr>
          <a:xfrm>
            <a:off x="4402226" y="2926080"/>
            <a:ext cx="3387242" cy="1554480"/>
          </a:xfrm>
          <a:prstGeom prst="roundRect">
            <a:avLst>
              <a:gd name="adj" fmla="val 4706"/>
            </a:avLst>
          </a:prstGeom>
          <a:solidFill>
            <a:srgbClr val="2A3833"/>
          </a:solidFill>
          <a:ln/>
        </p:spPr>
      </p:sp>
      <p:sp>
        <p:nvSpPr>
          <p:cNvPr id="8" name="Text 6"/>
          <p:cNvSpPr txBox="1"/>
          <p:nvPr/>
        </p:nvSpPr>
        <p:spPr>
          <a:xfrm>
            <a:off x="4658258" y="3127248"/>
            <a:ext cx="2930042" cy="411480"/>
          </a:xfrm>
          <a:prstGeom prst="rect">
            <a:avLst/>
          </a:prstGeom>
          <a:noFill/>
          <a:ln/>
        </p:spPr>
        <p:txBody>
          <a:bodyPr wrap="square" lIns="0" tIns="0" rIns="0" bIns="0" rtlCol="0" anchor="ctr"/>
          <a:lstStyle/>
          <a:p>
            <a:pPr indent="0" marL="0">
              <a:buNone/>
            </a:pPr>
            <a:r>
              <a:rPr lang="en-US" sz="1800" b="1" dirty="0">
                <a:solidFill>
                  <a:srgbClr val="F6F3EC"/>
                </a:solidFill>
                <a:latin typeface="Arial" pitchFamily="34" charset="0"/>
                <a:ea typeface="Arial" pitchFamily="34" charset="-122"/>
                <a:cs typeface="Arial" pitchFamily="34" charset="-120"/>
              </a:rPr>
              <a:t>Dashboard Power BI</a:t>
            </a:r>
            <a:endParaRPr lang="en-US" sz="1800" dirty="0"/>
          </a:p>
        </p:txBody>
      </p:sp>
      <p:sp>
        <p:nvSpPr>
          <p:cNvPr id="9" name="Text 7"/>
          <p:cNvSpPr txBox="1"/>
          <p:nvPr/>
        </p:nvSpPr>
        <p:spPr>
          <a:xfrm>
            <a:off x="4658258" y="3584448"/>
            <a:ext cx="2930042" cy="822960"/>
          </a:xfrm>
          <a:prstGeom prst="rect">
            <a:avLst/>
          </a:prstGeom>
          <a:noFill/>
          <a:ln/>
        </p:spPr>
        <p:txBody>
          <a:bodyPr wrap="square" lIns="0" tIns="0" rIns="0" bIns="0" rtlCol="0" anchor="t"/>
          <a:lstStyle/>
          <a:p>
            <a:pPr indent="0" marL="0">
              <a:buNone/>
            </a:pPr>
            <a:r>
              <a:rPr lang="en-US" sz="1400" dirty="0">
                <a:solidFill>
                  <a:srgbClr val="C9D6CF"/>
                </a:solidFill>
                <a:latin typeface="Arial" pitchFamily="34" charset="0"/>
                <a:ea typeface="Arial" pitchFamily="34" charset="-122"/>
                <a:cs typeface="Arial" pitchFamily="34" charset="-120"/>
              </a:rPr>
              <a:t>5 pages, à revoir en comité de direction chaque trimestre</a:t>
            </a:r>
            <a:endParaRPr lang="en-US" sz="1400" dirty="0"/>
          </a:p>
        </p:txBody>
      </p:sp>
      <p:sp>
        <p:nvSpPr>
          <p:cNvPr id="10" name="Shape 8"/>
          <p:cNvSpPr/>
          <p:nvPr/>
        </p:nvSpPr>
        <p:spPr>
          <a:xfrm>
            <a:off x="7990637" y="2926080"/>
            <a:ext cx="3387242" cy="1554480"/>
          </a:xfrm>
          <a:prstGeom prst="roundRect">
            <a:avLst>
              <a:gd name="adj" fmla="val 4706"/>
            </a:avLst>
          </a:prstGeom>
          <a:solidFill>
            <a:srgbClr val="2A3833"/>
          </a:solidFill>
          <a:ln/>
        </p:spPr>
      </p:sp>
      <p:sp>
        <p:nvSpPr>
          <p:cNvPr id="11" name="Text 9"/>
          <p:cNvSpPr txBox="1"/>
          <p:nvPr/>
        </p:nvSpPr>
        <p:spPr>
          <a:xfrm>
            <a:off x="8246669" y="3127248"/>
            <a:ext cx="2930042" cy="411480"/>
          </a:xfrm>
          <a:prstGeom prst="rect">
            <a:avLst/>
          </a:prstGeom>
          <a:noFill/>
          <a:ln/>
        </p:spPr>
        <p:txBody>
          <a:bodyPr wrap="square" lIns="0" tIns="0" rIns="0" bIns="0" rtlCol="0" anchor="ctr"/>
          <a:lstStyle/>
          <a:p>
            <a:pPr indent="0" marL="0">
              <a:buNone/>
            </a:pPr>
            <a:r>
              <a:rPr lang="en-US" sz="1800" b="1" dirty="0">
                <a:solidFill>
                  <a:srgbClr val="F6F3EC"/>
                </a:solidFill>
                <a:latin typeface="Arial" pitchFamily="34" charset="0"/>
                <a:ea typeface="Arial" pitchFamily="34" charset="-122"/>
                <a:cs typeface="Arial" pitchFamily="34" charset="-120"/>
              </a:rPr>
              <a:t>Données nettoyées</a:t>
            </a:r>
            <a:endParaRPr lang="en-US" sz="1800" dirty="0"/>
          </a:p>
        </p:txBody>
      </p:sp>
      <p:sp>
        <p:nvSpPr>
          <p:cNvPr id="12" name="Text 10"/>
          <p:cNvSpPr txBox="1"/>
          <p:nvPr/>
        </p:nvSpPr>
        <p:spPr>
          <a:xfrm>
            <a:off x="8246669" y="3584448"/>
            <a:ext cx="2930042" cy="822960"/>
          </a:xfrm>
          <a:prstGeom prst="rect">
            <a:avLst/>
          </a:prstGeom>
          <a:noFill/>
          <a:ln/>
        </p:spPr>
        <p:txBody>
          <a:bodyPr wrap="square" lIns="0" tIns="0" rIns="0" bIns="0" rtlCol="0" anchor="t"/>
          <a:lstStyle/>
          <a:p>
            <a:pPr indent="0" marL="0">
              <a:buNone/>
            </a:pPr>
            <a:r>
              <a:rPr lang="en-US" sz="1400" dirty="0">
                <a:solidFill>
                  <a:srgbClr val="C9D6CF"/>
                </a:solidFill>
                <a:latin typeface="Arial" pitchFamily="34" charset="0"/>
                <a:ea typeface="Arial" pitchFamily="34" charset="-122"/>
                <a:cs typeface="Arial" pitchFamily="34" charset="-120"/>
              </a:rPr>
              <a:t>6 fichiers CSV et le registre des 23 contrôles qualité</a:t>
            </a:r>
            <a:endParaRPr lang="en-US" sz="1400" dirty="0"/>
          </a:p>
        </p:txBody>
      </p:sp>
      <p:sp>
        <p:nvSpPr>
          <p:cNvPr id="13" name="Text 11"/>
          <p:cNvSpPr txBox="1"/>
          <p:nvPr/>
        </p:nvSpPr>
        <p:spPr>
          <a:xfrm>
            <a:off x="813816" y="5760720"/>
            <a:ext cx="5486400" cy="411480"/>
          </a:xfrm>
          <a:prstGeom prst="rect">
            <a:avLst/>
          </a:prstGeom>
          <a:noFill/>
          <a:ln/>
        </p:spPr>
        <p:txBody>
          <a:bodyPr wrap="square" lIns="0" tIns="0" rIns="0" bIns="0" rtlCol="0" anchor="ctr"/>
          <a:lstStyle/>
          <a:p>
            <a:pPr indent="0" marL="0">
              <a:buNone/>
            </a:pPr>
            <a:r>
              <a:rPr lang="en-US" sz="1600" dirty="0">
                <a:solidFill>
                  <a:srgbClr val="C9D6CF"/>
                </a:solidFill>
                <a:latin typeface="Arial" pitchFamily="34" charset="0"/>
                <a:ea typeface="Arial" pitchFamily="34" charset="-122"/>
                <a:cs typeface="Arial" pitchFamily="34" charset="-120"/>
              </a:rPr>
              <a:t>Questions et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Rikolto RDC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Café &amp; Cacao 2019-2025 – Comité de direction</dc:title>
  <dc:subject>PptxGenJS Presentation</dc:subject>
  <dc:creator>Lucien Buzera</dc:creator>
  <cp:lastModifiedBy>Lucien Buzera</cp:lastModifiedBy>
  <cp:revision>1</cp:revision>
  <dcterms:created xsi:type="dcterms:W3CDTF">2026-09-30T15:12:29Z</dcterms:created>
  <dcterms:modified xsi:type="dcterms:W3CDTF">2026-09-30T15:12:29Z</dcterms:modified>
</cp:coreProperties>
</file>